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71" r:id="rId1"/>
  </p:sldMasterIdLst>
  <p:notesMasterIdLst>
    <p:notesMasterId r:id="rId32"/>
  </p:notesMasterIdLst>
  <p:sldIdLst>
    <p:sldId id="412" r:id="rId2"/>
    <p:sldId id="6267" r:id="rId3"/>
    <p:sldId id="6299" r:id="rId4"/>
    <p:sldId id="788" r:id="rId5"/>
    <p:sldId id="6269" r:id="rId6"/>
    <p:sldId id="6281" r:id="rId7"/>
    <p:sldId id="6288" r:id="rId8"/>
    <p:sldId id="6289" r:id="rId9"/>
    <p:sldId id="6282" r:id="rId10"/>
    <p:sldId id="6286" r:id="rId11"/>
    <p:sldId id="6283" r:id="rId12"/>
    <p:sldId id="6290" r:id="rId13"/>
    <p:sldId id="6270" r:id="rId14"/>
    <p:sldId id="6271" r:id="rId15"/>
    <p:sldId id="6272" r:id="rId16"/>
    <p:sldId id="6273" r:id="rId17"/>
    <p:sldId id="6274" r:id="rId18"/>
    <p:sldId id="6275" r:id="rId19"/>
    <p:sldId id="6277" r:id="rId20"/>
    <p:sldId id="6291" r:id="rId21"/>
    <p:sldId id="6278" r:id="rId22"/>
    <p:sldId id="6279" r:id="rId23"/>
    <p:sldId id="6280" r:id="rId24"/>
    <p:sldId id="6292" r:id="rId25"/>
    <p:sldId id="6293" r:id="rId26"/>
    <p:sldId id="6294" r:id="rId27"/>
    <p:sldId id="6295" r:id="rId28"/>
    <p:sldId id="6298" r:id="rId29"/>
    <p:sldId id="6296" r:id="rId30"/>
    <p:sldId id="6268" r:id="rId31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ECBA8B0-A965-4865-AA43-C6DA73136968}">
          <p14:sldIdLst>
            <p14:sldId id="412"/>
            <p14:sldId id="6267"/>
            <p14:sldId id="6299"/>
          </p14:sldIdLst>
        </p14:section>
        <p14:section name="(1) APDU Tab" id="{6D88DBFE-3A30-46BD-80ED-329B491139F8}">
          <p14:sldIdLst>
            <p14:sldId id="788"/>
            <p14:sldId id="6269"/>
            <p14:sldId id="6281"/>
            <p14:sldId id="6288"/>
            <p14:sldId id="6289"/>
            <p14:sldId id="6282"/>
          </p14:sldIdLst>
        </p14:section>
        <p14:section name="(2) File System Tab" id="{8852045F-E011-4B99-89E2-3990985923DF}">
          <p14:sldIdLst>
            <p14:sldId id="6286"/>
            <p14:sldId id="6283"/>
            <p14:sldId id="6290"/>
          </p14:sldIdLst>
        </p14:section>
        <p14:section name="(3) QCAT 로그 분석 방법" id="{FBC2341A-9335-4ACB-AA2D-510BFFC1B11F}">
          <p14:sldIdLst>
            <p14:sldId id="6270"/>
            <p14:sldId id="6271"/>
            <p14:sldId id="6272"/>
            <p14:sldId id="6273"/>
            <p14:sldId id="6274"/>
            <p14:sldId id="6275"/>
          </p14:sldIdLst>
        </p14:section>
        <p14:section name="(4) QXDM 로그 분석 방법" id="{2010EA09-6EF4-45A7-ACED-F466763DADE2}">
          <p14:sldIdLst>
            <p14:sldId id="6277"/>
            <p14:sldId id="6291"/>
            <p14:sldId id="6278"/>
            <p14:sldId id="6279"/>
            <p14:sldId id="6280"/>
          </p14:sldIdLst>
        </p14:section>
        <p14:section name="(5) Shannon DM 로그 분석 방법" id="{987666AB-6919-4526-A7E1-3A2AC9C0D152}">
          <p14:sldIdLst>
            <p14:sldId id="6292"/>
            <p14:sldId id="6293"/>
            <p14:sldId id="6294"/>
            <p14:sldId id="6295"/>
            <p14:sldId id="6298"/>
            <p14:sldId id="6296"/>
          </p14:sldIdLst>
        </p14:section>
        <p14:section name="참고" id="{50AD2CE8-DB6B-4625-8406-15E1896C501B}">
          <p14:sldIdLst>
            <p14:sldId id="6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46">
          <p15:clr>
            <a:srgbClr val="A4A3A4"/>
          </p15:clr>
        </p15:guide>
        <p15:guide id="2" orient="horz" pos="4110">
          <p15:clr>
            <a:srgbClr val="A4A3A4"/>
          </p15:clr>
        </p15:guide>
        <p15:guide id="3" pos="6023">
          <p15:clr>
            <a:srgbClr val="A4A3A4"/>
          </p15:clr>
        </p15:guide>
        <p15:guide id="4" pos="1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안주석 모바일디바이스개발팀" initials="안모" lastIdx="1" clrIdx="0">
    <p:extLst>
      <p:ext uri="{19B8F6BF-5375-455C-9EA6-DF929625EA0E}">
        <p15:presenceInfo xmlns:p15="http://schemas.microsoft.com/office/powerpoint/2012/main" userId="S::ajs3013@lguplus.co.kr::abb6ff5a-5218-46c0-b38e-bba8f0c206e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F2DCDB"/>
    <a:srgbClr val="FFCCCC"/>
    <a:srgbClr val="FFFFE7"/>
    <a:srgbClr val="FFCC00"/>
    <a:srgbClr val="FFFFCC"/>
    <a:srgbClr val="0000FF"/>
    <a:srgbClr val="FFCC99"/>
    <a:srgbClr val="FFDBB7"/>
    <a:srgbClr val="FF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0254" autoAdjust="0"/>
  </p:normalViewPr>
  <p:slideViewPr>
    <p:cSldViewPr showGuides="1">
      <p:cViewPr varScale="1">
        <p:scale>
          <a:sx n="112" d="100"/>
          <a:sy n="112" d="100"/>
        </p:scale>
        <p:origin x="1350" y="102"/>
      </p:cViewPr>
      <p:guideLst>
        <p:guide orient="horz" pos="3446"/>
        <p:guide orient="horz" pos="4110"/>
        <p:guide pos="6023"/>
        <p:guide pos="1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-3954" y="-96"/>
      </p:cViewPr>
      <p:guideLst>
        <p:guide orient="horz" pos="3130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0330A-782D-40D5-BF7D-83C8EC7ADA96}" type="datetimeFigureOut">
              <a:rPr lang="ko-KR" altLang="en-US" smtClean="0"/>
              <a:t>2024-01-16(Tue)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E53EA-3AA6-4E5E-AA25-E65B636E0A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822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89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77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64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53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440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329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216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105" algn="l" defTabSz="9137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BB6B9-C1D9-4978-8CD1-168A7F40D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35B914-BE50-45A1-BC30-FBFDE4F18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FFE7A5-4E5D-496D-9D55-C4C2CC7C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9D8DD-6FDF-4579-BB2B-6BC0EE2FFA54}" type="datetimeFigureOut">
              <a:rPr lang="ko-KR" altLang="en-US" smtClean="0"/>
              <a:t>2024-01-16(Tue)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6B3ADF-151E-4D6C-B861-90755393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886D3B-B4E9-4151-9E7C-8EF2EFBB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39E04-9299-47DE-9EDB-DE00FDFCAFF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415A8C1-F28C-474F-9060-C42C030889FE}"/>
              </a:ext>
            </a:extLst>
          </p:cNvPr>
          <p:cNvCxnSpPr/>
          <p:nvPr userDrawn="1"/>
        </p:nvCxnSpPr>
        <p:spPr>
          <a:xfrm>
            <a:off x="2864768" y="2852936"/>
            <a:ext cx="4176465" cy="0"/>
          </a:xfrm>
          <a:prstGeom prst="line">
            <a:avLst/>
          </a:prstGeom>
          <a:ln w="28575">
            <a:solidFill>
              <a:srgbClr val="C6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5" descr="777.png">
            <a:extLst>
              <a:ext uri="{FF2B5EF4-FFF2-40B4-BE49-F238E27FC236}">
                <a16:creationId xmlns:a16="http://schemas.microsoft.com/office/drawing/2014/main" id="{7B493020-829E-421A-9B9E-032E735F80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2782564" cy="270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T:\브랜드\U+_LTE_ME_최종_로고\U+ LTE ME 최종.jpg">
            <a:extLst>
              <a:ext uri="{FF2B5EF4-FFF2-40B4-BE49-F238E27FC236}">
                <a16:creationId xmlns:a16="http://schemas.microsoft.com/office/drawing/2014/main" id="{17DE0974-DA65-4E68-BF5D-B5B9ABE5B6D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459"/>
          <a:stretch/>
        </p:blipFill>
        <p:spPr bwMode="auto">
          <a:xfrm>
            <a:off x="7473280" y="404664"/>
            <a:ext cx="2159742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:\브랜드\CI 로고\CI_영문.jpg">
            <a:extLst>
              <a:ext uri="{FF2B5EF4-FFF2-40B4-BE49-F238E27FC236}">
                <a16:creationId xmlns:a16="http://schemas.microsoft.com/office/drawing/2014/main" id="{061ADEE9-F0B1-4D08-B29B-361221C074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919" y="6219560"/>
            <a:ext cx="1342164" cy="43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27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B67F2-0739-4B21-9B91-BC11052E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CD9C7-6057-4E49-AA0A-E58B76BB8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A1199B-B156-402E-B715-E7C19DE3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6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1F50EA-72E4-408D-AD6E-26AF4C9D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6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132BC4-C1DA-4056-8422-23C82CDD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6"/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914296"/>
              <a:t>‹#›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 N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46465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DF1D55-20FB-4696-A718-1465D46C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48B286-ED4A-4D1B-B1C9-BD2331C14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FA2F85-7603-40FB-ADB0-9AFC95F6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6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B4F7E9-456A-4DD2-AD2B-6476A8230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6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890290-6619-4B05-B386-1A7E2213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6"/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914296"/>
              <a:t>‹#›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 N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0591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474CC-79DA-4616-AB61-99BD226E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64C49B-9F71-462D-9C50-A65A3E0A1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AC8C05-30C3-4D2C-9BBC-6F4E3D65A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D2C260-7F1E-4231-A02E-FE6E2324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45895F-CFFE-4E31-806B-F907097F3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1C8784-783F-4CA4-8F21-DBD66CD5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72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FDD93-A491-4A46-8983-5B0D772B1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CDA95E-96D4-4887-A132-930D61E2E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9A6C04-62A9-4BD3-8179-3729C0C5B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872FCF-C4DD-4693-A2B6-DD3DC8B94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FC5D5C-AD01-440F-91C2-8B9E408D1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444B71-622E-4E18-9E55-8F3495F6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F58C8E-1998-4D1A-86F9-4F975A64F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E9E777-D311-483B-812B-2C32AAF2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85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357A1-CC77-48E0-95E1-A6B2DDD3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CA6B68-CD60-4D67-8C09-A0EAE3E1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042A6A-2A36-494B-9C11-ADAC1176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5AAF29-4C91-4117-9774-F5BBD7B3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41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B031AF-942F-4210-9622-9B153E97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DCCA40-B232-40CA-BFC2-077B6951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B0E29C-AF17-49A8-AD19-11B3418F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00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C30D1-1CF9-44C1-BF68-C2D3B4A0C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29BE39-A754-4C95-BC51-5C67C9171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1D0818-CBB4-4CC2-B635-E9A0651C1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347C5-CDD3-4F6C-A9B8-4B46FADA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DB0441-5DC9-4E4C-8123-0646E655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7650C4-3D56-4C94-882A-0CBC2A080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080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9E64A-A589-4CEC-80CD-FFCF91195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A7AF88-3554-41A8-B15E-EA897B66B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728015-BB82-47D3-949C-59988B408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86C87F-A7AC-49B5-8E59-6671B1FC1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85BFA9-88EF-47DB-B052-D2879141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64767C-3E5A-4B52-80DF-0D15C34E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932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1375B-C5A1-489D-9E17-5443D544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BD7ED0-FF80-44FD-9FD4-25FAC47ED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1CA71A-2F28-4574-B4D2-95D11692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DE2BF-A500-4020-9943-714C802B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81035-A664-4DD6-802A-A6264370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293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263D-FFB7-42E1-A108-42BC0E9C3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5E9ABE-A3CA-4142-A577-251A60CB3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AAD0F-63A9-4A13-A8A2-402BC3B5C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C61B95-32F4-44B8-8BD3-938EA949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4CFC05-7763-4702-8DC1-A1A823493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657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8209" y="168308"/>
            <a:ext cx="7200000" cy="490067"/>
          </a:xfrm>
        </p:spPr>
        <p:txBody>
          <a:bodyPr>
            <a:normAutofit/>
          </a:bodyPr>
          <a:lstStyle>
            <a:lvl1pPr algn="l"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6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6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6"/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914296"/>
              <a:t>‹#›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 N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187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그림 5" descr="77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2000670" cy="1947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99648" y="6495092"/>
            <a:ext cx="2311400" cy="365125"/>
          </a:xfrm>
        </p:spPr>
        <p:txBody>
          <a:bodyPr/>
          <a:lstStyle/>
          <a:p>
            <a:pPr defTabSz="914296"/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914296"/>
              <a:t>‹#›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 N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2864768" y="2852936"/>
            <a:ext cx="4176465" cy="1470025"/>
          </a:xfrm>
        </p:spPr>
        <p:txBody>
          <a:bodyPr>
            <a:normAutofit/>
          </a:bodyPr>
          <a:lstStyle>
            <a:lvl1pPr>
              <a:defRPr sz="23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0304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양식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>
            <a:spLocks noChangeArrowheads="1"/>
          </p:cNvSpPr>
          <p:nvPr userDrawn="1"/>
        </p:nvSpPr>
        <p:spPr bwMode="auto">
          <a:xfrm>
            <a:off x="128594" y="620741"/>
            <a:ext cx="9648825" cy="7302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C0C0C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  <a:defRPr/>
            </a:pPr>
            <a:endParaRPr kumimoji="1" lang="ko-KR" altLang="en-US" sz="800" dirty="0">
              <a:solidFill>
                <a:srgbClr val="3333FF"/>
              </a:solidFill>
              <a:latin typeface="굴림" charset="-127"/>
              <a:ea typeface="굴림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9642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C1ECE2-E978-4367-9E47-4EC39C2D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468A4F-8031-418E-807F-3594F1BFC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213CC4-D04D-4267-9654-BA9A5A1B0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96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17036-0F3B-4DD8-BB37-DF060E213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96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C8695F-7F94-494D-82DC-40323D61B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96"/>
            <a:fld id="{735C6234-7637-4714-A267-672CFD23EA6D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914296"/>
              <a:t>‹#›</a:t>
            </a:fld>
            <a:r>
              <a:rPr lang="ko-KR" altLang="en-US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 N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40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35" r:id="rId13"/>
    <p:sldLayoutId id="2147483744" r:id="rId14"/>
  </p:sldLayoutIdLst>
  <p:hf hdr="0" ftr="0" dt="0"/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27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6A99A-5A84-48CB-9E29-5F07CA31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000" y="2348880"/>
            <a:ext cx="7200000" cy="2160240"/>
          </a:xfrm>
        </p:spPr>
        <p:txBody>
          <a:bodyPr>
            <a:normAutofit/>
          </a:bodyPr>
          <a:lstStyle/>
          <a:p>
            <a:pPr algn="ctr"/>
            <a:r>
              <a:rPr lang="en-US" altLang="ko-KR" sz="3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SIM-APDU-Analyzer</a:t>
            </a:r>
            <a:r>
              <a:rPr lang="en-US" altLang="ko-KR" sz="3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/>
            </a:r>
            <a:br>
              <a:rPr lang="en-US" altLang="ko-KR" sz="3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</a:br>
            <a:r>
              <a:rPr lang="ko-KR" altLang="en-US" sz="3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사용 </a:t>
            </a:r>
            <a:r>
              <a:rPr lang="ko-KR" altLang="en-US" sz="3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매뉴얼 </a:t>
            </a:r>
            <a:r>
              <a:rPr lang="en-US" altLang="ko-KR" sz="3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v3.1</a:t>
            </a:r>
            <a:endParaRPr lang="ko-KR" altLang="en-US" sz="3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0B1DFC8-A2CB-49F7-98B2-75BE187E485E}"/>
              </a:ext>
            </a:extLst>
          </p:cNvPr>
          <p:cNvSpPr txBox="1">
            <a:spLocks/>
          </p:cNvSpPr>
          <p:nvPr/>
        </p:nvSpPr>
        <p:spPr>
          <a:xfrm>
            <a:off x="2324708" y="4869160"/>
            <a:ext cx="5256584" cy="1872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4295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en-US" altLang="ko-KR" sz="2000" b="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2024.01.16</a:t>
            </a:r>
            <a:endParaRPr lang="en-US" altLang="ko-KR" sz="2000" b="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619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204E9D2-F82D-4186-B14C-966555545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843496"/>
              </p:ext>
            </p:extLst>
          </p:nvPr>
        </p:nvGraphicFramePr>
        <p:xfrm>
          <a:off x="416496" y="710153"/>
          <a:ext cx="9217025" cy="4184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037">
                  <a:extLst>
                    <a:ext uri="{9D8B030D-6E8A-4147-A177-3AD203B41FA5}">
                      <a16:colId xmlns:a16="http://schemas.microsoft.com/office/drawing/2014/main" val="1702036496"/>
                    </a:ext>
                  </a:extLst>
                </a:gridCol>
                <a:gridCol w="1231658">
                  <a:extLst>
                    <a:ext uri="{9D8B030D-6E8A-4147-A177-3AD203B41FA5}">
                      <a16:colId xmlns:a16="http://schemas.microsoft.com/office/drawing/2014/main" val="3428263695"/>
                    </a:ext>
                  </a:extLst>
                </a:gridCol>
                <a:gridCol w="4824619">
                  <a:extLst>
                    <a:ext uri="{9D8B030D-6E8A-4147-A177-3AD203B41FA5}">
                      <a16:colId xmlns:a16="http://schemas.microsoft.com/office/drawing/2014/main" val="3145650960"/>
                    </a:ext>
                  </a:extLst>
                </a:gridCol>
                <a:gridCol w="1863002">
                  <a:extLst>
                    <a:ext uri="{9D8B030D-6E8A-4147-A177-3AD203B41FA5}">
                      <a16:colId xmlns:a16="http://schemas.microsoft.com/office/drawing/2014/main" val="80375533"/>
                    </a:ext>
                  </a:extLst>
                </a:gridCol>
                <a:gridCol w="714709">
                  <a:extLst>
                    <a:ext uri="{9D8B030D-6E8A-4147-A177-3AD203B41FA5}">
                      <a16:colId xmlns:a16="http://schemas.microsoft.com/office/drawing/2014/main" val="357059390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버전</a:t>
                      </a:r>
                    </a:p>
                  </a:txBody>
                  <a:tcPr marL="24848" marR="24848" marT="17708" marB="1770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일시</a:t>
                      </a:r>
                    </a:p>
                  </a:txBody>
                  <a:tcPr marL="24848" marR="24848" marT="17708" marB="17708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업데이트 내용</a:t>
                      </a:r>
                    </a:p>
                  </a:txBody>
                  <a:tcPr marL="24848" marR="24848" marT="17708" marB="17708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 명 </a:t>
                      </a:r>
                    </a:p>
                  </a:txBody>
                  <a:tcPr marL="24848" marR="24848" marT="17708" marB="17708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담당자</a:t>
                      </a:r>
                    </a:p>
                  </a:txBody>
                  <a:tcPr marL="24848" marR="24848" marT="17708" marB="17708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265277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v1.2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2022.07.04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최초 작성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모바일디바이스개발팀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안주석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834035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v3.0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2024.01.15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v3.0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업데이트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File System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탭 분석 방법 추가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모바일디바이스개발팀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안주석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447618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V3.1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2024.01.16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v3.1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업데이트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Shannon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DM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로그 분석 방법 추가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모바일디바이스개발팀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안주석</a:t>
                      </a:r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692875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182172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741287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342008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260688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282604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973085"/>
                  </a:ext>
                </a:extLst>
              </a:tr>
              <a:tr h="31220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25600" marR="25600" marT="26107" marB="2610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369111"/>
                  </a:ext>
                </a:extLst>
              </a:tr>
              <a:tr h="342215"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2354" marR="92354" marT="41804" marB="4180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2354" marR="92354" marT="41804" marB="41804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2354" marR="92354" marT="41804" marB="41804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2354" marR="92354" marT="41804" marB="41804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2354" marR="92354" marT="41804" marB="41804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39095"/>
                  </a:ext>
                </a:extLst>
              </a:tr>
            </a:tbl>
          </a:graphicData>
        </a:graphic>
      </p:graphicFrame>
      <p:sp>
        <p:nvSpPr>
          <p:cNvPr id="10" name="제목 1">
            <a:extLst>
              <a:ext uri="{FF2B5EF4-FFF2-40B4-BE49-F238E27FC236}">
                <a16:creationId xmlns:a16="http://schemas.microsoft.com/office/drawing/2014/main" id="{F0722A7A-518E-4125-BC07-8A0E8AED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00" y="202629"/>
            <a:ext cx="4372268" cy="490067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문서 이력</a:t>
            </a:r>
          </a:p>
        </p:txBody>
      </p:sp>
    </p:spTree>
    <p:extLst>
      <p:ext uri="{BB962C8B-B14F-4D97-AF65-F5344CB8AC3E}">
        <p14:creationId xmlns:p14="http://schemas.microsoft.com/office/powerpoint/2010/main" val="208427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F0722A7A-518E-4125-BC07-8A0E8AED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00" y="202629"/>
            <a:ext cx="4372268" cy="490067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문서 구성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 txBox="1">
            <a:spLocks/>
          </p:cNvSpPr>
          <p:nvPr/>
        </p:nvSpPr>
        <p:spPr>
          <a:xfrm>
            <a:off x="416496" y="620688"/>
            <a:ext cx="7704856" cy="2448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74295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00000"/>
              </a:lnSpc>
              <a:buAutoNum type="arabicParenBoth"/>
            </a:pPr>
            <a:r>
              <a:rPr lang="en-US" altLang="ko-KR" sz="16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APDU Tab</a:t>
            </a:r>
          </a:p>
          <a:p>
            <a:pPr marL="342900" indent="-342900">
              <a:lnSpc>
                <a:spcPct val="200000"/>
              </a:lnSpc>
              <a:buAutoNum type="arabicParenBoth"/>
            </a:pPr>
            <a:r>
              <a:rPr lang="en-US" altLang="ko-KR" sz="16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File System Tab</a:t>
            </a:r>
          </a:p>
          <a:p>
            <a:pPr marL="342900" indent="-342900">
              <a:lnSpc>
                <a:spcPct val="200000"/>
              </a:lnSpc>
              <a:buAutoNum type="arabicParenBoth"/>
            </a:pPr>
            <a:r>
              <a:rPr lang="en-US" altLang="ko-KR" sz="16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QCAT </a:t>
            </a:r>
            <a:r>
              <a:rPr lang="ko-KR" altLang="en-US" sz="16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로그 분석 방법</a:t>
            </a:r>
            <a:endParaRPr lang="en-US" altLang="ko-KR" sz="1600" dirty="0" smtClea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arenBoth"/>
            </a:pPr>
            <a:r>
              <a:rPr lang="en-US" altLang="ko-KR" sz="16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QXDM </a:t>
            </a:r>
            <a:r>
              <a:rPr lang="ko-KR" altLang="en-US" sz="16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로그 분석 방법</a:t>
            </a:r>
            <a:endParaRPr lang="en-US" altLang="ko-KR" sz="1600" dirty="0" smtClea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342900" indent="-342900">
              <a:lnSpc>
                <a:spcPct val="200000"/>
              </a:lnSpc>
              <a:buAutoNum type="arabicParenBoth"/>
            </a:pPr>
            <a:r>
              <a:rPr lang="en-US" altLang="ko-KR" sz="16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Shannon DM </a:t>
            </a:r>
            <a:r>
              <a:rPr lang="ko-KR" altLang="en-US" sz="16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로그 분석 방법</a:t>
            </a:r>
            <a:endParaRPr lang="ko-KR" alt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57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3736679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(1) APDU Tab :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화면 구성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00A823-BB78-46F7-9CE3-C8D3BFD13862}"/>
              </a:ext>
            </a:extLst>
          </p:cNvPr>
          <p:cNvSpPr/>
          <p:nvPr/>
        </p:nvSpPr>
        <p:spPr>
          <a:xfrm>
            <a:off x="240960" y="679105"/>
            <a:ext cx="9176535" cy="5868652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08ABDD-360E-49DA-B45B-11661E8EE537}"/>
              </a:ext>
            </a:extLst>
          </p:cNvPr>
          <p:cNvSpPr/>
          <p:nvPr/>
        </p:nvSpPr>
        <p:spPr>
          <a:xfrm>
            <a:off x="348973" y="762382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Open button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Text</a:t>
            </a:r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저장된 단말 로그 열기</a:t>
            </a:r>
            <a:endParaRPr lang="en-US" altLang="ko-KR" sz="10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33F0C5F-15AC-47EF-92D1-ECB33E57BF8A}"/>
              </a:ext>
            </a:extLst>
          </p:cNvPr>
          <p:cNvSpPr/>
          <p:nvPr/>
        </p:nvSpPr>
        <p:spPr>
          <a:xfrm>
            <a:off x="2704391" y="762382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Clipboard button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QXDM </a:t>
            </a:r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로그 복사 후 클립보드 붙여넣기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0EA98A5-D065-458E-AF12-4064CAA91684}"/>
              </a:ext>
            </a:extLst>
          </p:cNvPr>
          <p:cNvSpPr/>
          <p:nvPr/>
        </p:nvSpPr>
        <p:spPr>
          <a:xfrm>
            <a:off x="348973" y="2204864"/>
            <a:ext cx="4587666" cy="4151752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Summary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선택된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SIM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포트의 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Parsing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시간 순으로 요약 정리</a:t>
            </a:r>
            <a:endParaRPr lang="en-US" altLang="ko-KR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메시지 선택 가능</a:t>
            </a:r>
            <a:endParaRPr lang="en-US" altLang="ko-KR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D6A0133-0745-4D15-A647-D42EF2F38FB4}"/>
              </a:ext>
            </a:extLst>
          </p:cNvPr>
          <p:cNvSpPr/>
          <p:nvPr/>
        </p:nvSpPr>
        <p:spPr>
          <a:xfrm>
            <a:off x="4998856" y="2204865"/>
            <a:ext cx="4274623" cy="187220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Protocol-Level </a:t>
            </a:r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Analysis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선택된 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메시지 상세 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Protocol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메시지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  <a:endParaRPr lang="ko-KR" altLang="en-US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DF5E62-27D6-4D46-8095-92456F3C1859}"/>
              </a:ext>
            </a:extLst>
          </p:cNvPr>
          <p:cNvSpPr/>
          <p:nvPr/>
        </p:nvSpPr>
        <p:spPr>
          <a:xfrm>
            <a:off x="348973" y="1360478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Combo box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SIM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포트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1,2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1261158-FBDB-40FF-8E51-A14DBA87B609}"/>
              </a:ext>
            </a:extLst>
          </p:cNvPr>
          <p:cNvSpPr/>
          <p:nvPr/>
        </p:nvSpPr>
        <p:spPr>
          <a:xfrm>
            <a:off x="2704391" y="1360478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Execute button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Parsing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실행 버튼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F5B9CEE-1F7D-41AA-A604-DCC2584A3C94}"/>
              </a:ext>
            </a:extLst>
          </p:cNvPr>
          <p:cNvSpPr/>
          <p:nvPr/>
        </p:nvSpPr>
        <p:spPr>
          <a:xfrm>
            <a:off x="4998857" y="762382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로그 불러오기 결과</a:t>
            </a:r>
            <a:endParaRPr lang="en-US" altLang="ko-KR" sz="105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파일 또는 클립보드 붙여넣기 결과 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6D41332-9656-41BC-A2FC-D894E44932DD}"/>
              </a:ext>
            </a:extLst>
          </p:cNvPr>
          <p:cNvSpPr/>
          <p:nvPr/>
        </p:nvSpPr>
        <p:spPr>
          <a:xfrm>
            <a:off x="4998857" y="1360478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실행 결과</a:t>
            </a:r>
            <a:endParaRPr lang="en-US" altLang="ko-KR" sz="105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Parsing </a:t>
            </a:r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73AFBD2-245B-4B77-A296-29C858E45D27}"/>
              </a:ext>
            </a:extLst>
          </p:cNvPr>
          <p:cNvSpPr/>
          <p:nvPr/>
        </p:nvSpPr>
        <p:spPr>
          <a:xfrm>
            <a:off x="4998856" y="4170918"/>
            <a:ext cx="4274623" cy="218569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Application-Level Analysis</a:t>
            </a: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선택된 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메시지 상세 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Parsing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확인</a:t>
            </a:r>
            <a:endParaRPr lang="en-US" altLang="ko-KR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DF5E62-27D6-4D46-8095-92456F3C1859}"/>
              </a:ext>
            </a:extLst>
          </p:cNvPr>
          <p:cNvSpPr/>
          <p:nvPr/>
        </p:nvSpPr>
        <p:spPr>
          <a:xfrm>
            <a:off x="348973" y="1958575"/>
            <a:ext cx="1228621" cy="246290"/>
          </a:xfrm>
          <a:prstGeom prst="rect">
            <a:avLst/>
          </a:prstGeom>
          <a:solidFill>
            <a:srgbClr val="FFFF0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Tab</a:t>
            </a:r>
            <a:endParaRPr lang="ko-KR" altLang="en-US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DF5E62-27D6-4D46-8095-92456F3C1859}"/>
              </a:ext>
            </a:extLst>
          </p:cNvPr>
          <p:cNvSpPr/>
          <p:nvPr/>
        </p:nvSpPr>
        <p:spPr>
          <a:xfrm>
            <a:off x="1577594" y="1958575"/>
            <a:ext cx="1228621" cy="24629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System Tab</a:t>
            </a:r>
            <a:endParaRPr lang="ko-KR" altLang="en-US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7B373-D8FF-4D9F-9410-F54727202F10}"/>
              </a:ext>
            </a:extLst>
          </p:cNvPr>
          <p:cNvSpPr txBox="1"/>
          <p:nvPr/>
        </p:nvSpPr>
        <p:spPr>
          <a:xfrm>
            <a:off x="348973" y="2204863"/>
            <a:ext cx="30963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 smtClean="0"/>
              <a:t>단말</a:t>
            </a:r>
            <a:r>
              <a:rPr lang="en-US" altLang="ko-KR" dirty="0" smtClean="0"/>
              <a:t>-SIM </a:t>
            </a:r>
            <a:r>
              <a:rPr lang="ko-KR" altLang="en-US" dirty="0" smtClean="0"/>
              <a:t>간의 </a:t>
            </a:r>
            <a:r>
              <a:rPr lang="en-US" altLang="ko-KR" dirty="0" smtClean="0"/>
              <a:t>APDU </a:t>
            </a:r>
            <a:r>
              <a:rPr lang="ko-KR" altLang="en-US" dirty="0" smtClean="0"/>
              <a:t>메시지 분석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30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3736679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(1) APDU Tab :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화면 예시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08" y="585260"/>
            <a:ext cx="7933759" cy="608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8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15" y="1040464"/>
            <a:ext cx="4573945" cy="5590377"/>
          </a:xfrm>
          <a:prstGeom prst="rect">
            <a:avLst/>
          </a:prstGeom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5464871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1) </a:t>
            </a:r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APDU Tab :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화면 설명 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344488" y="585260"/>
            <a:ext cx="7714662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400" b="1" dirty="0"/>
              <a:t>단말 로그에 포함된 </a:t>
            </a:r>
            <a:r>
              <a:rPr lang="en-US" altLang="ko-KR" sz="1400" b="1" dirty="0"/>
              <a:t>APDU </a:t>
            </a:r>
            <a:r>
              <a:rPr lang="ko-KR" altLang="en-US" sz="1400" b="1" dirty="0"/>
              <a:t>로그 </a:t>
            </a:r>
            <a:r>
              <a:rPr lang="en-US" altLang="ko-KR" sz="1400" b="1" dirty="0"/>
              <a:t>Parsing </a:t>
            </a:r>
            <a:r>
              <a:rPr lang="ko-KR" altLang="en-US" sz="1400" b="1" dirty="0"/>
              <a:t>결과 요약 출력</a:t>
            </a:r>
            <a:endParaRPr lang="en-US" altLang="ko-KR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2B898-FFB0-4E6B-AFA2-380FBEC244B2}"/>
              </a:ext>
            </a:extLst>
          </p:cNvPr>
          <p:cNvSpPr txBox="1"/>
          <p:nvPr/>
        </p:nvSpPr>
        <p:spPr>
          <a:xfrm>
            <a:off x="400647" y="1215176"/>
            <a:ext cx="4475480" cy="2308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sz="900" dirty="0">
                <a:solidFill>
                  <a:schemeClr val="tx1"/>
                </a:solidFill>
              </a:rPr>
              <a:t>[</a:t>
            </a:r>
            <a:r>
              <a:rPr lang="ko-KR" altLang="en-US" sz="900" dirty="0">
                <a:solidFill>
                  <a:schemeClr val="tx1"/>
                </a:solidFill>
              </a:rPr>
              <a:t>순서</a:t>
            </a:r>
            <a:r>
              <a:rPr lang="en-US" altLang="ko-KR" sz="900" dirty="0" smtClean="0">
                <a:solidFill>
                  <a:schemeClr val="tx1"/>
                </a:solidFill>
              </a:rPr>
              <a:t>]  CP Time       APDU Command (</a:t>
            </a:r>
            <a:r>
              <a:rPr lang="ko-KR" altLang="en-US" sz="900" dirty="0" smtClean="0">
                <a:solidFill>
                  <a:schemeClr val="tx1"/>
                </a:solidFill>
              </a:rPr>
              <a:t>상세 </a:t>
            </a:r>
            <a:r>
              <a:rPr lang="en-US" altLang="ko-KR" sz="900" dirty="0" smtClean="0">
                <a:solidFill>
                  <a:schemeClr val="tx1"/>
                </a:solidFill>
              </a:rPr>
              <a:t>Type)         |  EF File Name   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5151866" y="1593928"/>
            <a:ext cx="4409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SFI(Short </a:t>
            </a:r>
            <a:r>
              <a:rPr lang="en-US" altLang="ko-KR" b="0" dirty="0">
                <a:solidFill>
                  <a:schemeClr val="tx1"/>
                </a:solidFill>
              </a:rPr>
              <a:t>File </a:t>
            </a:r>
            <a:r>
              <a:rPr lang="en-US" altLang="ko-KR" b="0" dirty="0" smtClean="0">
                <a:solidFill>
                  <a:schemeClr val="tx1"/>
                </a:solidFill>
              </a:rPr>
              <a:t>Identity) </a:t>
            </a:r>
            <a:r>
              <a:rPr lang="ko-KR" altLang="en-US" b="0" dirty="0" smtClean="0">
                <a:solidFill>
                  <a:schemeClr val="tx1"/>
                </a:solidFill>
              </a:rPr>
              <a:t>사용 시 </a:t>
            </a:r>
            <a:r>
              <a:rPr lang="en-US" altLang="ko-KR" b="0" dirty="0" smtClean="0">
                <a:solidFill>
                  <a:schemeClr val="tx1"/>
                </a:solidFill>
              </a:rPr>
              <a:t>SELECT </a:t>
            </a:r>
            <a:r>
              <a:rPr lang="ko-KR" altLang="en-US" b="0" dirty="0" smtClean="0">
                <a:solidFill>
                  <a:schemeClr val="tx1"/>
                </a:solidFill>
              </a:rPr>
              <a:t>없이 </a:t>
            </a:r>
            <a:r>
              <a:rPr lang="en-US" altLang="ko-KR" b="0" dirty="0" smtClean="0">
                <a:solidFill>
                  <a:schemeClr val="tx1"/>
                </a:solidFill>
              </a:rPr>
              <a:t>READ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37B373-D8FF-4D9F-9410-F54727202F10}"/>
              </a:ext>
            </a:extLst>
          </p:cNvPr>
          <p:cNvSpPr txBox="1"/>
          <p:nvPr/>
        </p:nvSpPr>
        <p:spPr>
          <a:xfrm>
            <a:off x="5151866" y="2285216"/>
            <a:ext cx="4409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(X) File </a:t>
            </a:r>
            <a:r>
              <a:rPr lang="en-US" altLang="ko-KR" b="0" dirty="0">
                <a:solidFill>
                  <a:schemeClr val="tx1"/>
                </a:solidFill>
              </a:rPr>
              <a:t>n</a:t>
            </a:r>
            <a:r>
              <a:rPr lang="en-US" altLang="ko-KR" b="0" dirty="0" smtClean="0">
                <a:solidFill>
                  <a:schemeClr val="tx1"/>
                </a:solidFill>
              </a:rPr>
              <a:t>ot found (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회색</a:t>
            </a:r>
            <a:r>
              <a:rPr lang="ko-KR" altLang="en-US" b="0" dirty="0" smtClean="0">
                <a:solidFill>
                  <a:schemeClr val="tx1"/>
                </a:solidFill>
              </a:rPr>
              <a:t> 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10" name="꺾인 연결선 9"/>
          <p:cNvCxnSpPr/>
          <p:nvPr/>
        </p:nvCxnSpPr>
        <p:spPr>
          <a:xfrm flipV="1">
            <a:off x="2509557" y="1744480"/>
            <a:ext cx="2658657" cy="540736"/>
          </a:xfrm>
          <a:prstGeom prst="bentConnector3">
            <a:avLst>
              <a:gd name="adj1" fmla="val 49357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/>
          <p:nvPr/>
        </p:nvCxnSpPr>
        <p:spPr>
          <a:xfrm flipV="1">
            <a:off x="1928664" y="2399781"/>
            <a:ext cx="3223202" cy="228585"/>
          </a:xfrm>
          <a:prstGeom prst="bentConnector3">
            <a:avLst>
              <a:gd name="adj1" fmla="val 70946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endCxn id="37" idx="1"/>
          </p:cNvCxnSpPr>
          <p:nvPr/>
        </p:nvCxnSpPr>
        <p:spPr>
          <a:xfrm flipV="1">
            <a:off x="4016896" y="3150063"/>
            <a:ext cx="1134970" cy="211765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F37B373-D8FF-4D9F-9410-F54727202F10}"/>
              </a:ext>
            </a:extLst>
          </p:cNvPr>
          <p:cNvSpPr txBox="1"/>
          <p:nvPr/>
        </p:nvSpPr>
        <p:spPr>
          <a:xfrm>
            <a:off x="5151866" y="3026952"/>
            <a:ext cx="4409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3GPP </a:t>
            </a:r>
            <a:r>
              <a:rPr lang="ko-KR" altLang="en-US" b="0" dirty="0" smtClean="0">
                <a:solidFill>
                  <a:schemeClr val="tx1"/>
                </a:solidFill>
              </a:rPr>
              <a:t>스펙에서 확인되지 않는 </a:t>
            </a:r>
            <a:r>
              <a:rPr lang="en-US" altLang="ko-KR" b="0" dirty="0" smtClean="0">
                <a:solidFill>
                  <a:schemeClr val="tx1"/>
                </a:solidFill>
              </a:rPr>
              <a:t>File Id </a:t>
            </a:r>
            <a:r>
              <a:rPr lang="ko-KR" altLang="en-US" b="0" dirty="0" smtClean="0">
                <a:solidFill>
                  <a:schemeClr val="tx1"/>
                </a:solidFill>
              </a:rPr>
              <a:t>는</a:t>
            </a:r>
            <a:r>
              <a:rPr lang="en-US" altLang="ko-KR" b="0" dirty="0" smtClean="0">
                <a:solidFill>
                  <a:schemeClr val="tx1"/>
                </a:solidFill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</a:rPr>
              <a:t>직접 표기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39" name="꺾인 연결선 38"/>
          <p:cNvCxnSpPr>
            <a:endCxn id="40" idx="1"/>
          </p:cNvCxnSpPr>
          <p:nvPr/>
        </p:nvCxnSpPr>
        <p:spPr>
          <a:xfrm flipV="1">
            <a:off x="3512840" y="2899175"/>
            <a:ext cx="1636290" cy="333255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37B373-D8FF-4D9F-9410-F54727202F10}"/>
              </a:ext>
            </a:extLst>
          </p:cNvPr>
          <p:cNvSpPr txBox="1"/>
          <p:nvPr/>
        </p:nvSpPr>
        <p:spPr>
          <a:xfrm>
            <a:off x="5149130" y="2776064"/>
            <a:ext cx="4409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3GPP </a:t>
            </a:r>
            <a:r>
              <a:rPr lang="ko-KR" altLang="en-US" b="0" dirty="0" smtClean="0">
                <a:solidFill>
                  <a:schemeClr val="tx1"/>
                </a:solidFill>
              </a:rPr>
              <a:t>스펙에서 확인된 </a:t>
            </a:r>
            <a:r>
              <a:rPr lang="en-US" altLang="ko-KR" b="0" dirty="0" smtClean="0">
                <a:solidFill>
                  <a:schemeClr val="tx1"/>
                </a:solidFill>
              </a:rPr>
              <a:t>File Name </a:t>
            </a:r>
            <a:r>
              <a:rPr lang="ko-KR" altLang="en-US" b="0" dirty="0" smtClean="0">
                <a:solidFill>
                  <a:schemeClr val="tx1"/>
                </a:solidFill>
              </a:rPr>
              <a:t>으로 표기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42" name="꺾인 연결선 41"/>
          <p:cNvCxnSpPr>
            <a:endCxn id="43" idx="1"/>
          </p:cNvCxnSpPr>
          <p:nvPr/>
        </p:nvCxnSpPr>
        <p:spPr>
          <a:xfrm flipV="1">
            <a:off x="3728864" y="6268152"/>
            <a:ext cx="1423002" cy="197953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F37B373-D8FF-4D9F-9410-F54727202F10}"/>
              </a:ext>
            </a:extLst>
          </p:cNvPr>
          <p:cNvSpPr txBox="1"/>
          <p:nvPr/>
        </p:nvSpPr>
        <p:spPr>
          <a:xfrm>
            <a:off x="5151866" y="6145041"/>
            <a:ext cx="4409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USIM </a:t>
            </a:r>
            <a:r>
              <a:rPr lang="ko-KR" altLang="en-US" b="0" dirty="0" smtClean="0">
                <a:solidFill>
                  <a:schemeClr val="tx1"/>
                </a:solidFill>
              </a:rPr>
              <a:t>인증 </a:t>
            </a:r>
            <a:r>
              <a:rPr lang="en-US" altLang="ko-KR" b="0" dirty="0" smtClean="0">
                <a:solidFill>
                  <a:schemeClr val="tx1"/>
                </a:solidFill>
              </a:rPr>
              <a:t>: </a:t>
            </a:r>
            <a:r>
              <a:rPr lang="ko-KR" altLang="en-US" b="0" dirty="0" smtClean="0">
                <a:solidFill>
                  <a:schemeClr val="tx1"/>
                </a:solidFill>
              </a:rPr>
              <a:t>성공 </a:t>
            </a:r>
            <a:r>
              <a:rPr lang="en-US" altLang="ko-KR" b="0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accent6"/>
                </a:solidFill>
              </a:rPr>
              <a:t>밝은 녹색 </a:t>
            </a:r>
            <a:r>
              <a:rPr lang="ko-KR" altLang="en-US" b="0" dirty="0" smtClean="0">
                <a:solidFill>
                  <a:schemeClr val="tx1"/>
                </a:solidFill>
              </a:rPr>
              <a:t>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2509557" y="2249212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1922749" y="2592362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3504261" y="3180794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4016896" y="3336184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3692860" y="6430101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2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t="68452" r="-382"/>
          <a:stretch/>
        </p:blipFill>
        <p:spPr>
          <a:xfrm>
            <a:off x="128464" y="260648"/>
            <a:ext cx="7764482" cy="119471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45" y="1628800"/>
            <a:ext cx="4100614" cy="49979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448944" y="1593928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USIM </a:t>
            </a:r>
            <a:r>
              <a:rPr lang="ko-KR" altLang="en-US" b="0" dirty="0" smtClean="0">
                <a:solidFill>
                  <a:schemeClr val="tx1"/>
                </a:solidFill>
              </a:rPr>
              <a:t>인증</a:t>
            </a:r>
            <a:r>
              <a:rPr lang="en-US" altLang="ko-KR" b="0" dirty="0" smtClean="0">
                <a:solidFill>
                  <a:schemeClr val="tx1"/>
                </a:solidFill>
              </a:rPr>
              <a:t> Re-Sync (</a:t>
            </a:r>
            <a:r>
              <a:rPr lang="ko-KR" altLang="en-US" dirty="0" smtClean="0">
                <a:solidFill>
                  <a:srgbClr val="CC00FF"/>
                </a:solidFill>
              </a:rPr>
              <a:t>분홍색</a:t>
            </a:r>
            <a:r>
              <a:rPr lang="ko-KR" altLang="en-US" b="0" dirty="0" smtClean="0">
                <a:solidFill>
                  <a:schemeClr val="tx1"/>
                </a:solidFill>
              </a:rPr>
              <a:t> 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14" name="꺾인 연결선 13"/>
          <p:cNvCxnSpPr>
            <a:endCxn id="13" idx="1"/>
          </p:cNvCxnSpPr>
          <p:nvPr/>
        </p:nvCxnSpPr>
        <p:spPr>
          <a:xfrm>
            <a:off x="3152800" y="1268760"/>
            <a:ext cx="1296144" cy="448279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448944" y="2488955"/>
            <a:ext cx="51125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FETCH, TERMINAL RESPONSE </a:t>
            </a:r>
            <a:r>
              <a:rPr lang="ko-KR" altLang="en-US" b="0" dirty="0" smtClean="0">
                <a:solidFill>
                  <a:schemeClr val="tx1"/>
                </a:solidFill>
              </a:rPr>
              <a:t>메시지의 </a:t>
            </a:r>
            <a:r>
              <a:rPr lang="en-US" altLang="ko-KR" b="0" dirty="0" smtClean="0">
                <a:solidFill>
                  <a:schemeClr val="tx1"/>
                </a:solidFill>
              </a:rPr>
              <a:t>Proactive Type </a:t>
            </a:r>
            <a:r>
              <a:rPr lang="ko-KR" altLang="en-US" b="0" dirty="0" smtClean="0">
                <a:solidFill>
                  <a:schemeClr val="tx1"/>
                </a:solidFill>
              </a:rPr>
              <a:t>확인</a:t>
            </a:r>
            <a:r>
              <a:rPr lang="en-US" altLang="ko-KR" b="0" dirty="0" smtClean="0">
                <a:solidFill>
                  <a:schemeClr val="tx1"/>
                </a:solidFill>
              </a:rPr>
              <a:t/>
            </a:r>
            <a:br>
              <a:rPr lang="en-US" altLang="ko-KR" b="0" dirty="0" smtClean="0">
                <a:solidFill>
                  <a:schemeClr val="tx1"/>
                </a:solidFill>
              </a:rPr>
            </a:br>
            <a:r>
              <a:rPr lang="en-US" altLang="ko-KR" b="0" dirty="0" smtClean="0">
                <a:solidFill>
                  <a:schemeClr val="tx1"/>
                </a:solidFill>
              </a:rPr>
              <a:t>(Send data, Receive data, Refresh </a:t>
            </a:r>
            <a:r>
              <a:rPr lang="ko-KR" altLang="en-US" b="0" dirty="0" smtClean="0">
                <a:solidFill>
                  <a:schemeClr val="tx1"/>
                </a:solidFill>
              </a:rPr>
              <a:t>등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25" name="꺾인 연결선 24"/>
          <p:cNvCxnSpPr>
            <a:stCxn id="28" idx="6"/>
            <a:endCxn id="24" idx="1"/>
          </p:cNvCxnSpPr>
          <p:nvPr/>
        </p:nvCxnSpPr>
        <p:spPr>
          <a:xfrm>
            <a:off x="2560721" y="2143897"/>
            <a:ext cx="1888223" cy="545113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/>
          <p:cNvSpPr/>
          <p:nvPr/>
        </p:nvSpPr>
        <p:spPr>
          <a:xfrm>
            <a:off x="3116796" y="1233801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2488713" y="2107893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440365" y="2116846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ENVELOPE </a:t>
            </a:r>
            <a:r>
              <a:rPr lang="ko-KR" altLang="en-US" b="0" dirty="0" smtClean="0">
                <a:solidFill>
                  <a:schemeClr val="tx1"/>
                </a:solidFill>
              </a:rPr>
              <a:t>메시지에 포함된 </a:t>
            </a:r>
            <a:r>
              <a:rPr lang="en-US" altLang="ko-KR" b="0" dirty="0" smtClean="0">
                <a:solidFill>
                  <a:schemeClr val="tx1"/>
                </a:solidFill>
              </a:rPr>
              <a:t>ENVELOPE Type </a:t>
            </a:r>
            <a:r>
              <a:rPr lang="ko-KR" altLang="en-US" b="0" dirty="0" smtClean="0">
                <a:solidFill>
                  <a:schemeClr val="tx1"/>
                </a:solidFill>
              </a:rPr>
              <a:t>확인 </a:t>
            </a:r>
            <a:r>
              <a:rPr lang="en-US" altLang="ko-KR" b="0" dirty="0" smtClean="0">
                <a:solidFill>
                  <a:schemeClr val="tx1"/>
                </a:solidFill>
              </a:rPr>
              <a:t>(SMS-PP, Event </a:t>
            </a:r>
            <a:r>
              <a:rPr lang="ko-KR" altLang="en-US" b="0" dirty="0" smtClean="0">
                <a:solidFill>
                  <a:schemeClr val="tx1"/>
                </a:solidFill>
              </a:rPr>
              <a:t>등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35" name="꺾인 연결선 34"/>
          <p:cNvCxnSpPr>
            <a:stCxn id="36" idx="6"/>
            <a:endCxn id="34" idx="1"/>
          </p:cNvCxnSpPr>
          <p:nvPr/>
        </p:nvCxnSpPr>
        <p:spPr>
          <a:xfrm>
            <a:off x="2560721" y="2020740"/>
            <a:ext cx="1879644" cy="219217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/>
          <p:cNvSpPr/>
          <p:nvPr/>
        </p:nvSpPr>
        <p:spPr>
          <a:xfrm>
            <a:off x="2488713" y="1984736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448944" y="3118818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Event Download </a:t>
            </a:r>
            <a:r>
              <a:rPr lang="ko-KR" altLang="en-US" b="0" dirty="0" smtClean="0">
                <a:solidFill>
                  <a:schemeClr val="tx1"/>
                </a:solidFill>
              </a:rPr>
              <a:t>아이템 확인 </a:t>
            </a:r>
            <a:r>
              <a:rPr lang="en-US" altLang="ko-KR" b="0" dirty="0" smtClean="0">
                <a:solidFill>
                  <a:schemeClr val="tx1"/>
                </a:solidFill>
              </a:rPr>
              <a:t>(Data available, Location Status, MT Call </a:t>
            </a:r>
            <a:r>
              <a:rPr lang="ko-KR" altLang="en-US" b="0" dirty="0" smtClean="0">
                <a:solidFill>
                  <a:schemeClr val="tx1"/>
                </a:solidFill>
              </a:rPr>
              <a:t>등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41" name="꺾인 연결선 40"/>
          <p:cNvCxnSpPr>
            <a:stCxn id="42" idx="6"/>
            <a:endCxn id="40" idx="1"/>
          </p:cNvCxnSpPr>
          <p:nvPr/>
        </p:nvCxnSpPr>
        <p:spPr>
          <a:xfrm>
            <a:off x="3496825" y="3009492"/>
            <a:ext cx="952119" cy="232437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3424817" y="2973488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448944" y="5013176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REFRESH Type </a:t>
            </a:r>
            <a:r>
              <a:rPr lang="ko-KR" altLang="en-US" b="0" dirty="0" smtClean="0">
                <a:solidFill>
                  <a:schemeClr val="tx1"/>
                </a:solidFill>
              </a:rPr>
              <a:t>확인 </a:t>
            </a:r>
            <a:r>
              <a:rPr lang="en-US" altLang="ko-KR" b="0" dirty="0" smtClean="0">
                <a:solidFill>
                  <a:schemeClr val="tx1"/>
                </a:solidFill>
              </a:rPr>
              <a:t>(FCN, UICC Reset, Steering of Roaming </a:t>
            </a:r>
            <a:r>
              <a:rPr lang="ko-KR" altLang="en-US" b="0" dirty="0" smtClean="0">
                <a:solidFill>
                  <a:schemeClr val="tx1"/>
                </a:solidFill>
              </a:rPr>
              <a:t>등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45" name="꺾인 연결선 44"/>
          <p:cNvCxnSpPr>
            <a:stCxn id="46" idx="6"/>
            <a:endCxn id="44" idx="1"/>
          </p:cNvCxnSpPr>
          <p:nvPr/>
        </p:nvCxnSpPr>
        <p:spPr>
          <a:xfrm flipV="1">
            <a:off x="3116796" y="5136287"/>
            <a:ext cx="1332148" cy="1137029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/>
          <p:cNvSpPr/>
          <p:nvPr/>
        </p:nvSpPr>
        <p:spPr>
          <a:xfrm>
            <a:off x="3044788" y="6237312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450824" y="5395436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OTA </a:t>
            </a:r>
            <a:r>
              <a:rPr lang="ko-KR" altLang="en-US" b="0" dirty="0" smtClean="0">
                <a:solidFill>
                  <a:schemeClr val="tx1"/>
                </a:solidFill>
              </a:rPr>
              <a:t>개통</a:t>
            </a:r>
            <a:r>
              <a:rPr lang="en-US" altLang="ko-KR" b="0" dirty="0" smtClean="0">
                <a:solidFill>
                  <a:schemeClr val="tx1"/>
                </a:solidFill>
              </a:rPr>
              <a:t>(BIP, NAS SMS) </a:t>
            </a:r>
            <a:r>
              <a:rPr lang="ko-KR" altLang="en-US" b="0" dirty="0" smtClean="0">
                <a:solidFill>
                  <a:schemeClr val="tx1"/>
                </a:solidFill>
              </a:rPr>
              <a:t>관련 사항 </a:t>
            </a:r>
            <a:r>
              <a:rPr lang="en-US" altLang="ko-KR" b="0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accent4"/>
                </a:solidFill>
              </a:rPr>
              <a:t>노란색</a:t>
            </a:r>
            <a:r>
              <a:rPr lang="en-US" altLang="ko-KR" b="0" dirty="0">
                <a:solidFill>
                  <a:schemeClr val="tx1"/>
                </a:solidFill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</a:rPr>
              <a:t>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r>
              <a:rPr lang="ko-KR" altLang="en-US" b="0" dirty="0" smtClean="0">
                <a:solidFill>
                  <a:schemeClr val="tx1"/>
                </a:solidFill>
              </a:rPr>
              <a:t> </a:t>
            </a:r>
            <a:endParaRPr lang="en-US" altLang="ko-KR" b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03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30" y="1816262"/>
            <a:ext cx="7720860" cy="2134693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30" y="4346693"/>
            <a:ext cx="7720860" cy="200858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4"/>
          <a:srcRect t="29708" b="43411"/>
          <a:stretch/>
        </p:blipFill>
        <p:spPr>
          <a:xfrm>
            <a:off x="268922" y="353561"/>
            <a:ext cx="4180022" cy="129614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592960" y="878523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SIM RESET (COLD/WARM) </a:t>
            </a:r>
            <a:r>
              <a:rPr lang="ko-KR" altLang="en-US" b="0" dirty="0" smtClean="0">
                <a:solidFill>
                  <a:schemeClr val="tx1"/>
                </a:solidFill>
              </a:rPr>
              <a:t>확인 </a:t>
            </a:r>
            <a:r>
              <a:rPr lang="en-US" altLang="ko-KR" b="0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rgbClr val="00B0F0"/>
                </a:solidFill>
              </a:rPr>
              <a:t>하늘색</a:t>
            </a:r>
            <a:r>
              <a:rPr lang="ko-KR" altLang="en-US" b="0" dirty="0" smtClean="0">
                <a:solidFill>
                  <a:schemeClr val="tx1"/>
                </a:solidFill>
              </a:rPr>
              <a:t> 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45" name="꺾인 연결선 44"/>
          <p:cNvCxnSpPr>
            <a:stCxn id="46" idx="6"/>
            <a:endCxn id="44" idx="1"/>
          </p:cNvCxnSpPr>
          <p:nvPr/>
        </p:nvCxnSpPr>
        <p:spPr>
          <a:xfrm>
            <a:off x="1568624" y="389565"/>
            <a:ext cx="3024336" cy="612069"/>
          </a:xfrm>
          <a:prstGeom prst="bentConnector3">
            <a:avLst>
              <a:gd name="adj1" fmla="val 72888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/>
          <p:cNvSpPr/>
          <p:nvPr/>
        </p:nvSpPr>
        <p:spPr>
          <a:xfrm>
            <a:off x="1496616" y="353561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꺾인 연결선 22"/>
          <p:cNvCxnSpPr>
            <a:stCxn id="27" idx="6"/>
            <a:endCxn id="29" idx="1"/>
          </p:cNvCxnSpPr>
          <p:nvPr/>
        </p:nvCxnSpPr>
        <p:spPr>
          <a:xfrm>
            <a:off x="2206022" y="1256285"/>
            <a:ext cx="2386938" cy="180301"/>
          </a:xfrm>
          <a:prstGeom prst="bentConnector3">
            <a:avLst>
              <a:gd name="adj1" fmla="val 79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/>
          <p:cNvSpPr/>
          <p:nvPr/>
        </p:nvSpPr>
        <p:spPr>
          <a:xfrm>
            <a:off x="2134014" y="1220281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592960" y="1313475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Logical Channel </a:t>
            </a:r>
            <a:r>
              <a:rPr lang="ko-KR" altLang="en-US" b="0" dirty="0" smtClean="0">
                <a:solidFill>
                  <a:schemeClr val="tx1"/>
                </a:solidFill>
              </a:rPr>
              <a:t>관리 </a:t>
            </a:r>
            <a:r>
              <a:rPr lang="en-US" altLang="ko-KR" b="0" dirty="0" smtClean="0">
                <a:solidFill>
                  <a:schemeClr val="tx1"/>
                </a:solidFill>
              </a:rPr>
              <a:t>(OPEN/CLOSE) </a:t>
            </a:r>
            <a:r>
              <a:rPr lang="ko-KR" altLang="en-US" b="0" dirty="0" smtClean="0">
                <a:solidFill>
                  <a:schemeClr val="tx1"/>
                </a:solidFill>
              </a:rPr>
              <a:t>확인 </a:t>
            </a:r>
            <a:r>
              <a:rPr lang="en-US" altLang="ko-KR" b="0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옅은 하늘색 </a:t>
            </a:r>
            <a:r>
              <a:rPr lang="ko-KR" altLang="en-US" b="0" dirty="0" smtClean="0">
                <a:solidFill>
                  <a:schemeClr val="tx1"/>
                </a:solidFill>
              </a:rPr>
              <a:t>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38" name="꺾인 연결선 37"/>
          <p:cNvCxnSpPr>
            <a:stCxn id="39" idx="6"/>
            <a:endCxn id="43" idx="1"/>
          </p:cNvCxnSpPr>
          <p:nvPr/>
        </p:nvCxnSpPr>
        <p:spPr>
          <a:xfrm>
            <a:off x="3800872" y="3872624"/>
            <a:ext cx="576064" cy="201442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3728864" y="3836620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376936" y="3950955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ERROR </a:t>
            </a:r>
            <a:r>
              <a:rPr lang="ko-KR" altLang="en-US" dirty="0" smtClean="0">
                <a:solidFill>
                  <a:schemeClr val="tx1"/>
                </a:solidFill>
              </a:rPr>
              <a:t>처리</a:t>
            </a:r>
            <a:r>
              <a:rPr lang="ko-KR" altLang="en-US" b="0" dirty="0" smtClean="0">
                <a:solidFill>
                  <a:schemeClr val="tx1"/>
                </a:solidFill>
              </a:rPr>
              <a:t> 확인 </a:t>
            </a:r>
            <a:r>
              <a:rPr lang="en-US" altLang="ko-KR" b="0" dirty="0" smtClean="0">
                <a:solidFill>
                  <a:schemeClr val="tx1"/>
                </a:solidFill>
              </a:rPr>
              <a:t>*</a:t>
            </a:r>
            <a:r>
              <a:rPr lang="ko-KR" altLang="en-US" b="0" dirty="0" smtClean="0">
                <a:solidFill>
                  <a:schemeClr val="tx1"/>
                </a:solidFill>
              </a:rPr>
              <a:t>단말 에러 응답</a:t>
            </a:r>
            <a:r>
              <a:rPr lang="en-US" altLang="ko-KR" b="0" dirty="0" smtClean="0">
                <a:solidFill>
                  <a:schemeClr val="tx1"/>
                </a:solidFill>
              </a:rPr>
              <a:t>(T/R)</a:t>
            </a:r>
            <a:r>
              <a:rPr lang="ko-KR" altLang="en-US" b="0" dirty="0" smtClean="0">
                <a:solidFill>
                  <a:schemeClr val="tx1"/>
                </a:solidFill>
              </a:rPr>
              <a:t> 예시</a:t>
            </a:r>
            <a:r>
              <a:rPr lang="en-US" altLang="ko-KR" b="0" dirty="0" smtClean="0">
                <a:solidFill>
                  <a:schemeClr val="tx1"/>
                </a:solidFill>
              </a:rPr>
              <a:t> (</a:t>
            </a:r>
            <a:r>
              <a:rPr lang="ko-KR" altLang="en-US" dirty="0" smtClean="0"/>
              <a:t>빨간색</a:t>
            </a:r>
            <a:r>
              <a:rPr lang="ko-KR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</a:rPr>
              <a:t>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50" name="꺾인 연결선 49"/>
          <p:cNvCxnSpPr>
            <a:stCxn id="51" idx="6"/>
            <a:endCxn id="52" idx="1"/>
          </p:cNvCxnSpPr>
          <p:nvPr/>
        </p:nvCxnSpPr>
        <p:spPr>
          <a:xfrm flipV="1">
            <a:off x="7185248" y="3560132"/>
            <a:ext cx="864096" cy="159114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타원 50"/>
          <p:cNvSpPr/>
          <p:nvPr/>
        </p:nvSpPr>
        <p:spPr>
          <a:xfrm>
            <a:off x="7113240" y="3683242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8049344" y="3437021"/>
            <a:ext cx="12756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ERROR </a:t>
            </a:r>
            <a:r>
              <a:rPr lang="ko-KR" altLang="en-US" dirty="0" smtClean="0">
                <a:solidFill>
                  <a:schemeClr val="tx1"/>
                </a:solidFill>
              </a:rPr>
              <a:t>원인</a:t>
            </a:r>
            <a:r>
              <a:rPr lang="ko-KR" altLang="en-US" b="0" dirty="0" smtClean="0">
                <a:solidFill>
                  <a:schemeClr val="tx1"/>
                </a:solidFill>
              </a:rPr>
              <a:t> 확인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77" name="꺾인 연결선 76"/>
          <p:cNvCxnSpPr>
            <a:stCxn id="78" idx="6"/>
            <a:endCxn id="79" idx="1"/>
          </p:cNvCxnSpPr>
          <p:nvPr/>
        </p:nvCxnSpPr>
        <p:spPr>
          <a:xfrm>
            <a:off x="3656856" y="6276946"/>
            <a:ext cx="714965" cy="269304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3584848" y="6240942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371821" y="6423139"/>
            <a:ext cx="51125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ERROR </a:t>
            </a:r>
            <a:r>
              <a:rPr lang="ko-KR" altLang="en-US" dirty="0" smtClean="0">
                <a:solidFill>
                  <a:schemeClr val="tx1"/>
                </a:solidFill>
              </a:rPr>
              <a:t>처리</a:t>
            </a:r>
            <a:r>
              <a:rPr lang="ko-KR" altLang="en-US" b="0" dirty="0" smtClean="0">
                <a:solidFill>
                  <a:schemeClr val="tx1"/>
                </a:solidFill>
              </a:rPr>
              <a:t> 확인 </a:t>
            </a:r>
            <a:r>
              <a:rPr lang="en-US" altLang="ko-KR" b="0" dirty="0" smtClean="0">
                <a:solidFill>
                  <a:schemeClr val="tx1"/>
                </a:solidFill>
              </a:rPr>
              <a:t>*SIM</a:t>
            </a:r>
            <a:r>
              <a:rPr lang="ko-KR" altLang="en-US" b="0" dirty="0" smtClean="0">
                <a:solidFill>
                  <a:schemeClr val="tx1"/>
                </a:solidFill>
              </a:rPr>
              <a:t> 에러 응답</a:t>
            </a:r>
            <a:r>
              <a:rPr lang="en-US" altLang="ko-KR" b="0" dirty="0" smtClean="0">
                <a:solidFill>
                  <a:schemeClr val="tx1"/>
                </a:solidFill>
              </a:rPr>
              <a:t>(SW)</a:t>
            </a:r>
            <a:r>
              <a:rPr lang="ko-KR" altLang="en-US" b="0" dirty="0" smtClean="0">
                <a:solidFill>
                  <a:schemeClr val="tx1"/>
                </a:solidFill>
              </a:rPr>
              <a:t> 예시</a:t>
            </a:r>
            <a:r>
              <a:rPr lang="en-US" altLang="ko-KR" b="0" dirty="0" smtClean="0">
                <a:solidFill>
                  <a:schemeClr val="tx1"/>
                </a:solidFill>
              </a:rPr>
              <a:t> (</a:t>
            </a:r>
            <a:r>
              <a:rPr lang="ko-KR" altLang="en-US" dirty="0" smtClean="0"/>
              <a:t>빨간색</a:t>
            </a:r>
            <a:r>
              <a:rPr lang="ko-KR" alt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</a:rPr>
              <a:t>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80" name="꺾인 연결선 79"/>
          <p:cNvCxnSpPr>
            <a:stCxn id="81" idx="6"/>
            <a:endCxn id="82" idx="1"/>
          </p:cNvCxnSpPr>
          <p:nvPr/>
        </p:nvCxnSpPr>
        <p:spPr>
          <a:xfrm flipV="1">
            <a:off x="6825208" y="5964454"/>
            <a:ext cx="1219021" cy="256967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6753200" y="6185417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8044229" y="5841343"/>
            <a:ext cx="12756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ERROR </a:t>
            </a:r>
            <a:r>
              <a:rPr lang="ko-KR" altLang="en-US" dirty="0" smtClean="0">
                <a:solidFill>
                  <a:schemeClr val="tx1"/>
                </a:solidFill>
              </a:rPr>
              <a:t>원인</a:t>
            </a:r>
            <a:r>
              <a:rPr lang="ko-KR" altLang="en-US" b="0" dirty="0" smtClean="0">
                <a:solidFill>
                  <a:schemeClr val="tx1"/>
                </a:solidFill>
              </a:rPr>
              <a:t> 확인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1640632" y="4346693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꺾인 연결선 85"/>
          <p:cNvCxnSpPr>
            <a:stCxn id="85" idx="0"/>
            <a:endCxn id="44" idx="1"/>
          </p:cNvCxnSpPr>
          <p:nvPr/>
        </p:nvCxnSpPr>
        <p:spPr>
          <a:xfrm rot="5400000" flipH="1" flipV="1">
            <a:off x="1462269" y="1216002"/>
            <a:ext cx="3345059" cy="2916324"/>
          </a:xfrm>
          <a:prstGeom prst="bentConnector2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04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16" y="1046229"/>
            <a:ext cx="8980048" cy="4452972"/>
          </a:xfrm>
          <a:prstGeom prst="rect">
            <a:avLst/>
          </a:prstGeom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7778933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(1) APDU Tab : Protocol / Application-Level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분석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28359"/>
            <a:ext cx="7714662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b="1" dirty="0"/>
              <a:t>Summary </a:t>
            </a:r>
            <a:r>
              <a:rPr lang="ko-KR" altLang="en-US" sz="1400" b="1" dirty="0"/>
              <a:t>창에서 로그를 </a:t>
            </a:r>
            <a:r>
              <a:rPr lang="ko-KR" altLang="en-US" sz="1400" b="1" dirty="0" smtClean="0"/>
              <a:t>선택 시 </a:t>
            </a:r>
            <a:r>
              <a:rPr lang="en-US" altLang="ko-KR" sz="1400" b="1" dirty="0" smtClean="0"/>
              <a:t>Protocol /</a:t>
            </a:r>
            <a:r>
              <a:rPr lang="ko-KR" altLang="en-US" sz="1400" b="1" dirty="0" smtClean="0"/>
              <a:t> </a:t>
            </a:r>
            <a:r>
              <a:rPr lang="en-US" altLang="ko-KR" sz="1400" b="1" dirty="0"/>
              <a:t>Application-Level Analysis </a:t>
            </a:r>
            <a:r>
              <a:rPr lang="ko-KR" altLang="en-US" sz="1400" b="1" dirty="0"/>
              <a:t>창에 상세 </a:t>
            </a:r>
            <a:r>
              <a:rPr lang="ko-KR" altLang="en-US" sz="1400" b="1" dirty="0" smtClean="0"/>
              <a:t>내용 출력됨</a:t>
            </a:r>
            <a:endParaRPr lang="en-US" altLang="ko-KR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438080" y="2333577"/>
            <a:ext cx="3650824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sz="1100" b="1" dirty="0" smtClean="0"/>
              <a:t>■ </a:t>
            </a:r>
            <a:r>
              <a:rPr lang="en-US" altLang="ko-KR" sz="1100" b="1" dirty="0" smtClean="0"/>
              <a:t>Protocol-Level Analysis</a:t>
            </a:r>
          </a:p>
          <a:p>
            <a:r>
              <a:rPr lang="en-US" altLang="ko-KR" sz="1100" dirty="0" smtClean="0"/>
              <a:t>  - </a:t>
            </a:r>
            <a:r>
              <a:rPr lang="en-US" altLang="ko-KR" sz="1100" dirty="0"/>
              <a:t>1</a:t>
            </a:r>
            <a:r>
              <a:rPr lang="ko-KR" altLang="en-US" sz="1100" dirty="0"/>
              <a:t>개의 </a:t>
            </a:r>
            <a:r>
              <a:rPr lang="en-US" altLang="ko-KR" sz="1100" dirty="0"/>
              <a:t>Command </a:t>
            </a:r>
            <a:r>
              <a:rPr lang="ko-KR" altLang="en-US" sz="1100" dirty="0"/>
              <a:t>를 구성하는 전체 </a:t>
            </a:r>
            <a:r>
              <a:rPr lang="en-US" altLang="ko-KR" sz="1100" dirty="0"/>
              <a:t>APDU Data </a:t>
            </a:r>
            <a:r>
              <a:rPr lang="ko-KR" altLang="en-US" sz="1100" dirty="0"/>
              <a:t>출력 </a:t>
            </a:r>
            <a:endParaRPr lang="en-US" altLang="ko-KR" sz="1100" dirty="0" smtClean="0"/>
          </a:p>
          <a:p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ym typeface="Wingdings" panose="05000000000000000000" pitchFamily="2" charset="2"/>
              </a:rPr>
              <a:t> - </a:t>
            </a:r>
            <a:r>
              <a:rPr lang="ko-KR" altLang="en-US" sz="1100" dirty="0" smtClean="0">
                <a:sym typeface="Wingdings" panose="05000000000000000000" pitchFamily="2" charset="2"/>
              </a:rPr>
              <a:t>단말 </a:t>
            </a:r>
            <a:r>
              <a:rPr lang="en-US" altLang="ko-KR" sz="1100" dirty="0">
                <a:sym typeface="Wingdings" panose="05000000000000000000" pitchFamily="2" charset="2"/>
              </a:rPr>
              <a:t>or SIM </a:t>
            </a:r>
            <a:r>
              <a:rPr lang="ko-KR" altLang="en-US" sz="1100" dirty="0">
                <a:sym typeface="Wingdings" panose="05000000000000000000" pitchFamily="2" charset="2"/>
              </a:rPr>
              <a:t>이슈 분석에 </a:t>
            </a:r>
            <a:r>
              <a:rPr lang="ko-KR" altLang="en-US" sz="1100" dirty="0" smtClean="0">
                <a:sym typeface="Wingdings" panose="05000000000000000000" pitchFamily="2" charset="2"/>
              </a:rPr>
              <a:t>활용</a:t>
            </a:r>
            <a:endParaRPr lang="en-US" altLang="ko-KR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412895" y="4537929"/>
            <a:ext cx="4320480" cy="6155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 b="1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■ </a:t>
            </a:r>
            <a:r>
              <a:rPr lang="en-US" altLang="ko-KR" dirty="0"/>
              <a:t>Application-Level Analysis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선택 시점의 </a:t>
            </a:r>
            <a:r>
              <a:rPr lang="en-US" altLang="ko-KR" dirty="0"/>
              <a:t>Logical Channel / Current DF / Current DF </a:t>
            </a:r>
            <a:r>
              <a:rPr lang="ko-KR" altLang="en-US" dirty="0"/>
              <a:t>정보 출력</a:t>
            </a:r>
            <a:endParaRPr lang="en-US" altLang="ko-KR" dirty="0"/>
          </a:p>
          <a:p>
            <a:r>
              <a:rPr lang="en-US" altLang="ko-KR" dirty="0"/>
              <a:t>  - APDU</a:t>
            </a:r>
            <a:r>
              <a:rPr lang="ko-KR" altLang="en-US" dirty="0"/>
              <a:t> </a:t>
            </a:r>
            <a:r>
              <a:rPr lang="ko-KR" altLang="en-US" dirty="0" smtClean="0"/>
              <a:t>상세 내용 및 </a:t>
            </a:r>
            <a:r>
              <a:rPr lang="en-US" altLang="ko-KR" dirty="0" smtClean="0"/>
              <a:t>Error </a:t>
            </a:r>
            <a:r>
              <a:rPr lang="ko-KR" altLang="en-US" dirty="0" smtClean="0"/>
              <a:t>분석 제공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780" y="5499200"/>
            <a:ext cx="4167268" cy="1242167"/>
          </a:xfrm>
          <a:prstGeom prst="rect">
            <a:avLst/>
          </a:prstGeom>
        </p:spPr>
      </p:pic>
      <p:sp>
        <p:nvSpPr>
          <p:cNvPr id="13" name="타원 12"/>
          <p:cNvSpPr/>
          <p:nvPr/>
        </p:nvSpPr>
        <p:spPr>
          <a:xfrm>
            <a:off x="5008072" y="1268760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꺾인 연결선 13"/>
          <p:cNvCxnSpPr>
            <a:stCxn id="13" idx="2"/>
            <a:endCxn id="8" idx="3"/>
          </p:cNvCxnSpPr>
          <p:nvPr/>
        </p:nvCxnSpPr>
        <p:spPr>
          <a:xfrm rot="10800000" flipV="1">
            <a:off x="4088904" y="1304763"/>
            <a:ext cx="919168" cy="1328895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/>
          <p:cNvSpPr/>
          <p:nvPr/>
        </p:nvSpPr>
        <p:spPr>
          <a:xfrm>
            <a:off x="4972068" y="4170307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꺾인 연결선 20"/>
          <p:cNvCxnSpPr>
            <a:stCxn id="20" idx="2"/>
            <a:endCxn id="9" idx="0"/>
          </p:cNvCxnSpPr>
          <p:nvPr/>
        </p:nvCxnSpPr>
        <p:spPr>
          <a:xfrm rot="10800000" flipV="1">
            <a:off x="2573136" y="4206311"/>
            <a:ext cx="2398933" cy="331618"/>
          </a:xfrm>
          <a:prstGeom prst="bentConnector2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29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3736679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(2) File System Tab :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화면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구성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00A823-BB78-46F7-9CE3-C8D3BFD13862}"/>
              </a:ext>
            </a:extLst>
          </p:cNvPr>
          <p:cNvSpPr/>
          <p:nvPr/>
        </p:nvSpPr>
        <p:spPr>
          <a:xfrm>
            <a:off x="240960" y="679105"/>
            <a:ext cx="9176535" cy="5868652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408ABDD-360E-49DA-B45B-11661E8EE537}"/>
              </a:ext>
            </a:extLst>
          </p:cNvPr>
          <p:cNvSpPr/>
          <p:nvPr/>
        </p:nvSpPr>
        <p:spPr>
          <a:xfrm>
            <a:off x="348973" y="762382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Open button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Text</a:t>
            </a:r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저장된 단말 로그 열기</a:t>
            </a:r>
            <a:endParaRPr lang="en-US" altLang="ko-KR" sz="10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33F0C5F-15AC-47EF-92D1-ECB33E57BF8A}"/>
              </a:ext>
            </a:extLst>
          </p:cNvPr>
          <p:cNvSpPr/>
          <p:nvPr/>
        </p:nvSpPr>
        <p:spPr>
          <a:xfrm>
            <a:off x="2704391" y="762382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Clipboard button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QXDM </a:t>
            </a:r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로그 복사 후 클립보드 붙여넣기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0EA98A5-D065-458E-AF12-4064CAA91684}"/>
              </a:ext>
            </a:extLst>
          </p:cNvPr>
          <p:cNvSpPr/>
          <p:nvPr/>
        </p:nvSpPr>
        <p:spPr>
          <a:xfrm>
            <a:off x="348973" y="2204864"/>
            <a:ext cx="4587666" cy="4151752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System </a:t>
            </a:r>
            <a:r>
              <a:rPr lang="ko-KR" altLang="en-US" sz="105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선택된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SIM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포트에서 단말이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Read (Binary or Record)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처리한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리스트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(DF, File, DF Id, EF Id, File Type, SFI, REC #, Offset, Length, APDU reference)</a:t>
            </a:r>
            <a:endParaRPr lang="en-US" altLang="ko-KR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Item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 가능</a:t>
            </a:r>
            <a:endParaRPr lang="en-US" altLang="ko-KR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D6A0133-0745-4D15-A647-D42EF2F38FB4}"/>
              </a:ext>
            </a:extLst>
          </p:cNvPr>
          <p:cNvSpPr/>
          <p:nvPr/>
        </p:nvSpPr>
        <p:spPr>
          <a:xfrm>
            <a:off x="4998856" y="2204864"/>
            <a:ext cx="4274623" cy="187875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Contents</a:t>
            </a:r>
          </a:p>
          <a:p>
            <a:pPr algn="ctr"/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선택된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Item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저장된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Hex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확인</a:t>
            </a:r>
            <a:endParaRPr lang="ko-KR" altLang="en-US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DF5E62-27D6-4D46-8095-92456F3C1859}"/>
              </a:ext>
            </a:extLst>
          </p:cNvPr>
          <p:cNvSpPr/>
          <p:nvPr/>
        </p:nvSpPr>
        <p:spPr>
          <a:xfrm>
            <a:off x="348973" y="1360478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Combo box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SIM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포트</a:t>
            </a:r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1,2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1261158-FBDB-40FF-8E51-A14DBA87B609}"/>
              </a:ext>
            </a:extLst>
          </p:cNvPr>
          <p:cNvSpPr/>
          <p:nvPr/>
        </p:nvSpPr>
        <p:spPr>
          <a:xfrm>
            <a:off x="2704391" y="1360478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Execute button</a:t>
            </a: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Parsing </a:t>
            </a:r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실행 버튼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F5B9CEE-1F7D-41AA-A604-DCC2584A3C94}"/>
              </a:ext>
            </a:extLst>
          </p:cNvPr>
          <p:cNvSpPr/>
          <p:nvPr/>
        </p:nvSpPr>
        <p:spPr>
          <a:xfrm>
            <a:off x="4998857" y="762382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로그 불러오기 결과</a:t>
            </a:r>
            <a:endParaRPr lang="en-US" altLang="ko-KR" sz="105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파일 또는 클립보드 붙여넣기 결과 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6D41332-9656-41BC-A2FC-D894E44932DD}"/>
              </a:ext>
            </a:extLst>
          </p:cNvPr>
          <p:cNvSpPr/>
          <p:nvPr/>
        </p:nvSpPr>
        <p:spPr>
          <a:xfrm>
            <a:off x="4998857" y="1360478"/>
            <a:ext cx="2232248" cy="47749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실행 결과</a:t>
            </a:r>
            <a:endParaRPr lang="en-US" altLang="ko-KR" sz="105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Parsing </a:t>
            </a:r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73AFBD2-245B-4B77-A296-29C858E45D27}"/>
              </a:ext>
            </a:extLst>
          </p:cNvPr>
          <p:cNvSpPr/>
          <p:nvPr/>
        </p:nvSpPr>
        <p:spPr>
          <a:xfrm>
            <a:off x="4998856" y="4221088"/>
            <a:ext cx="4274623" cy="213552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Contents Parsing</a:t>
            </a:r>
            <a:endParaRPr lang="en-US" altLang="ko-KR" sz="105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선택된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Item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대한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Parsing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결과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일부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EF File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한정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향후 필요에 따라 </a:t>
            </a:r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Parsing </a:t>
            </a:r>
            <a:r>
              <a:rPr lang="ko-KR" altLang="en-US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기능 추가 개발 가능</a:t>
            </a:r>
            <a:endParaRPr lang="ko-KR" altLang="en-US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DF5E62-27D6-4D46-8095-92456F3C1859}"/>
              </a:ext>
            </a:extLst>
          </p:cNvPr>
          <p:cNvSpPr/>
          <p:nvPr/>
        </p:nvSpPr>
        <p:spPr>
          <a:xfrm>
            <a:off x="348973" y="1958575"/>
            <a:ext cx="1228621" cy="24629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Tab</a:t>
            </a:r>
            <a:endParaRPr lang="ko-KR" altLang="en-US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DF5E62-27D6-4D46-8095-92456F3C1859}"/>
              </a:ext>
            </a:extLst>
          </p:cNvPr>
          <p:cNvSpPr/>
          <p:nvPr/>
        </p:nvSpPr>
        <p:spPr>
          <a:xfrm>
            <a:off x="1577594" y="1958575"/>
            <a:ext cx="1228621" cy="246290"/>
          </a:xfrm>
          <a:prstGeom prst="rect">
            <a:avLst/>
          </a:prstGeom>
          <a:solidFill>
            <a:srgbClr val="FFFF0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File System Tab</a:t>
            </a:r>
            <a:endParaRPr lang="ko-KR" altLang="en-US" sz="105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7B373-D8FF-4D9F-9410-F54727202F10}"/>
              </a:ext>
            </a:extLst>
          </p:cNvPr>
          <p:cNvSpPr txBox="1"/>
          <p:nvPr/>
        </p:nvSpPr>
        <p:spPr>
          <a:xfrm>
            <a:off x="1577594" y="2211850"/>
            <a:ext cx="30963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 smtClean="0"/>
              <a:t>단말에서 </a:t>
            </a:r>
            <a:r>
              <a:rPr lang="en-US" altLang="ko-KR" dirty="0" smtClean="0"/>
              <a:t>Read</a:t>
            </a:r>
            <a:r>
              <a:rPr lang="ko-KR" altLang="en-US" dirty="0" smtClean="0"/>
              <a:t>한 전체 </a:t>
            </a:r>
            <a:r>
              <a:rPr lang="en-US" altLang="ko-KR" dirty="0" smtClean="0"/>
              <a:t>File System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Contents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109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/>
          <a:srcRect l="1228" t="10972" r="1226" b="5913"/>
          <a:stretch/>
        </p:blipFill>
        <p:spPr>
          <a:xfrm>
            <a:off x="344489" y="996143"/>
            <a:ext cx="8792694" cy="5745226"/>
          </a:xfrm>
          <a:prstGeom prst="rect">
            <a:avLst/>
          </a:prstGeom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5464871" cy="490067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(2) File System Tab :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화면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예시 및 설명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344488" y="585260"/>
            <a:ext cx="771466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400" b="1" dirty="0" smtClean="0"/>
              <a:t>단말이 </a:t>
            </a:r>
            <a:r>
              <a:rPr lang="en-US" altLang="ko-KR" sz="1400" b="1" dirty="0" smtClean="0"/>
              <a:t>READ BINARY / RECORD </a:t>
            </a:r>
            <a:r>
              <a:rPr lang="ko-KR" altLang="en-US" sz="1400" b="1" dirty="0" smtClean="0"/>
              <a:t>처리로 읽은 모든 </a:t>
            </a:r>
            <a:r>
              <a:rPr lang="en-US" altLang="ko-KR" sz="1400" b="1" dirty="0" smtClean="0"/>
              <a:t>EF File Contents </a:t>
            </a:r>
            <a:r>
              <a:rPr lang="ko-KR" altLang="en-US" sz="1400" b="1" dirty="0" smtClean="0"/>
              <a:t>및 </a:t>
            </a:r>
            <a:r>
              <a:rPr lang="en-US" altLang="ko-KR" sz="1400" b="1" dirty="0" smtClean="0"/>
              <a:t>Parsing </a:t>
            </a:r>
            <a:r>
              <a:rPr lang="ko-KR" altLang="en-US" sz="1400" b="1" dirty="0" smtClean="0"/>
              <a:t>제공</a:t>
            </a:r>
            <a:endParaRPr lang="en-US" altLang="ko-KR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2B898-FFB0-4E6B-AFA2-380FBEC244B2}"/>
              </a:ext>
            </a:extLst>
          </p:cNvPr>
          <p:cNvSpPr txBox="1"/>
          <p:nvPr/>
        </p:nvSpPr>
        <p:spPr>
          <a:xfrm>
            <a:off x="382584" y="1404810"/>
            <a:ext cx="4680520" cy="2154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sz="800" dirty="0" smtClean="0">
                <a:solidFill>
                  <a:schemeClr val="tx1"/>
                </a:solidFill>
              </a:rPr>
              <a:t>DF                   EF name        DF ID       EF ID       LF/TF     SFI      REC#    Offset   Length   APDU </a:t>
            </a:r>
            <a:r>
              <a:rPr lang="ko-KR" altLang="en-US" sz="800" dirty="0" smtClean="0">
                <a:solidFill>
                  <a:schemeClr val="tx1"/>
                </a:solidFill>
              </a:rPr>
              <a:t>위치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" name="꺾인 연결선 13"/>
          <p:cNvCxnSpPr>
            <a:stCxn id="15" idx="6"/>
            <a:endCxn id="16" idx="1"/>
          </p:cNvCxnSpPr>
          <p:nvPr/>
        </p:nvCxnSpPr>
        <p:spPr>
          <a:xfrm flipV="1">
            <a:off x="4808984" y="2513802"/>
            <a:ext cx="504056" cy="87919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4736976" y="3356992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5313040" y="2390691"/>
            <a:ext cx="2746110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b="0" dirty="0" smtClean="0">
                <a:solidFill>
                  <a:schemeClr val="tx1"/>
                </a:solidFill>
              </a:rPr>
              <a:t>개별 </a:t>
            </a:r>
            <a:r>
              <a:rPr lang="en-US" altLang="ko-KR" b="0" dirty="0" smtClean="0">
                <a:solidFill>
                  <a:schemeClr val="tx1"/>
                </a:solidFill>
              </a:rPr>
              <a:t>Item </a:t>
            </a:r>
            <a:r>
              <a:rPr lang="ko-KR" altLang="en-US" b="0" dirty="0" smtClean="0">
                <a:solidFill>
                  <a:schemeClr val="tx1"/>
                </a:solidFill>
              </a:rPr>
              <a:t>클릭 시 </a:t>
            </a:r>
            <a:r>
              <a:rPr lang="en-US" altLang="ko-KR" b="0" dirty="0" smtClean="0">
                <a:solidFill>
                  <a:schemeClr val="tx1"/>
                </a:solidFill>
              </a:rPr>
              <a:t>Contents </a:t>
            </a:r>
            <a:r>
              <a:rPr lang="ko-KR" altLang="en-US" b="0" dirty="0" smtClean="0">
                <a:solidFill>
                  <a:schemeClr val="tx1"/>
                </a:solidFill>
              </a:rPr>
              <a:t>및 </a:t>
            </a:r>
            <a:r>
              <a:rPr lang="en-US" altLang="ko-KR" b="0" dirty="0" smtClean="0">
                <a:solidFill>
                  <a:schemeClr val="tx1"/>
                </a:solidFill>
              </a:rPr>
              <a:t>Parsing </a:t>
            </a:r>
            <a:r>
              <a:rPr lang="ko-KR" altLang="en-US" b="0" dirty="0" smtClean="0">
                <a:solidFill>
                  <a:schemeClr val="tx1"/>
                </a:solidFill>
              </a:rPr>
              <a:t>확인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36" name="꺾인 연결선 35"/>
          <p:cNvCxnSpPr>
            <a:stCxn id="37" idx="6"/>
            <a:endCxn id="38" idx="1"/>
          </p:cNvCxnSpPr>
          <p:nvPr/>
        </p:nvCxnSpPr>
        <p:spPr>
          <a:xfrm>
            <a:off x="4808984" y="3810587"/>
            <a:ext cx="576064" cy="234862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/>
          <p:cNvSpPr/>
          <p:nvPr/>
        </p:nvSpPr>
        <p:spPr>
          <a:xfrm>
            <a:off x="4736976" y="3774583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5385048" y="5805264"/>
            <a:ext cx="2674102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b="0" dirty="0" smtClean="0">
                <a:solidFill>
                  <a:schemeClr val="tx1"/>
                </a:solidFill>
              </a:rPr>
              <a:t>동일 </a:t>
            </a:r>
            <a:r>
              <a:rPr lang="en-US" altLang="ko-KR" b="0" dirty="0" smtClean="0">
                <a:solidFill>
                  <a:schemeClr val="tx1"/>
                </a:solidFill>
              </a:rPr>
              <a:t>File </a:t>
            </a:r>
            <a:r>
              <a:rPr lang="ko-KR" altLang="en-US" b="0" dirty="0" smtClean="0">
                <a:solidFill>
                  <a:schemeClr val="tx1"/>
                </a:solidFill>
              </a:rPr>
              <a:t>중복 제거 상태</a:t>
            </a:r>
            <a:endParaRPr lang="en-US" altLang="ko-KR" b="0" dirty="0" smtClean="0">
              <a:solidFill>
                <a:schemeClr val="tx1"/>
              </a:solidFill>
            </a:endParaRPr>
          </a:p>
          <a:p>
            <a:r>
              <a:rPr lang="ko-KR" altLang="en-US" b="0" dirty="0" smtClean="0">
                <a:solidFill>
                  <a:schemeClr val="tx1"/>
                </a:solidFill>
              </a:rPr>
              <a:t>단</a:t>
            </a:r>
            <a:r>
              <a:rPr lang="en-US" altLang="ko-KR" b="0" dirty="0" smtClean="0">
                <a:solidFill>
                  <a:schemeClr val="tx1"/>
                </a:solidFill>
              </a:rPr>
              <a:t>, File </a:t>
            </a:r>
            <a:r>
              <a:rPr lang="ko-KR" altLang="en-US" b="0" dirty="0" smtClean="0">
                <a:solidFill>
                  <a:schemeClr val="tx1"/>
                </a:solidFill>
              </a:rPr>
              <a:t>값 변경이 있을 시 제외 및 색상 표기</a:t>
            </a:r>
            <a:endParaRPr lang="en-US" altLang="ko-KR" b="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b="0" dirty="0" smtClean="0">
                <a:solidFill>
                  <a:schemeClr val="tx1"/>
                </a:solidFill>
              </a:rPr>
              <a:t>개통 데이터</a:t>
            </a:r>
            <a:r>
              <a:rPr lang="en-US" altLang="ko-KR" b="0" dirty="0" smtClean="0">
                <a:solidFill>
                  <a:schemeClr val="tx1"/>
                </a:solidFill>
              </a:rPr>
              <a:t> </a:t>
            </a:r>
            <a:r>
              <a:rPr lang="ko-KR" altLang="en-US" b="0" dirty="0" smtClean="0">
                <a:solidFill>
                  <a:schemeClr val="tx1"/>
                </a:solidFill>
              </a:rPr>
              <a:t>포함 </a:t>
            </a:r>
            <a:r>
              <a:rPr lang="en-US" altLang="ko-KR" b="0" dirty="0" smtClean="0">
                <a:solidFill>
                  <a:schemeClr val="tx1"/>
                </a:solidFill>
              </a:rPr>
              <a:t>EF </a:t>
            </a:r>
            <a:r>
              <a:rPr lang="ko-KR" altLang="en-US" b="0" dirty="0" smtClean="0">
                <a:solidFill>
                  <a:schemeClr val="tx1"/>
                </a:solidFill>
              </a:rPr>
              <a:t>파일 </a:t>
            </a:r>
            <a:r>
              <a:rPr lang="en-US" altLang="ko-KR" b="0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accent4"/>
                </a:solidFill>
              </a:rPr>
              <a:t>노란색</a:t>
            </a:r>
            <a:r>
              <a:rPr lang="ko-KR" altLang="en-US" b="0" dirty="0" smtClean="0">
                <a:solidFill>
                  <a:schemeClr val="tx1"/>
                </a:solidFill>
              </a:rPr>
              <a:t> 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b="0" dirty="0" smtClean="0">
                <a:solidFill>
                  <a:schemeClr val="tx1"/>
                </a:solidFill>
              </a:rPr>
              <a:t>개통 데이터 외 </a:t>
            </a:r>
            <a:r>
              <a:rPr lang="en-US" altLang="ko-KR" b="0" dirty="0" smtClean="0">
                <a:solidFill>
                  <a:schemeClr val="tx1"/>
                </a:solidFill>
              </a:rPr>
              <a:t>EF </a:t>
            </a:r>
            <a:r>
              <a:rPr lang="ko-KR" altLang="en-US" b="0" dirty="0" smtClean="0">
                <a:solidFill>
                  <a:schemeClr val="tx1"/>
                </a:solidFill>
              </a:rPr>
              <a:t>파일 </a:t>
            </a:r>
            <a:r>
              <a:rPr lang="en-US" altLang="ko-KR" b="0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accent6"/>
                </a:solidFill>
              </a:rPr>
              <a:t>연녹색</a:t>
            </a:r>
            <a:r>
              <a:rPr lang="ko-KR" altLang="en-US" b="0" dirty="0" smtClean="0">
                <a:solidFill>
                  <a:schemeClr val="tx1"/>
                </a:solidFill>
              </a:rPr>
              <a:t> 표기</a:t>
            </a:r>
            <a:r>
              <a:rPr lang="en-US" altLang="ko-KR" b="0" dirty="0" smtClean="0">
                <a:solidFill>
                  <a:schemeClr val="tx1"/>
                </a:solidFill>
              </a:rPr>
              <a:t>)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44" name="꺾인 연결선 43"/>
          <p:cNvCxnSpPr>
            <a:stCxn id="45" idx="6"/>
            <a:endCxn id="38" idx="1"/>
          </p:cNvCxnSpPr>
          <p:nvPr/>
        </p:nvCxnSpPr>
        <p:spPr>
          <a:xfrm>
            <a:off x="4808984" y="4511302"/>
            <a:ext cx="576064" cy="164790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/>
          <p:cNvSpPr/>
          <p:nvPr/>
        </p:nvSpPr>
        <p:spPr>
          <a:xfrm>
            <a:off x="4736976" y="4475298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아래쪽 화살표 53"/>
          <p:cNvSpPr/>
          <p:nvPr/>
        </p:nvSpPr>
        <p:spPr>
          <a:xfrm>
            <a:off x="2425938" y="1820698"/>
            <a:ext cx="222806" cy="343571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2695200" y="1826332"/>
            <a:ext cx="1393704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EF File Id </a:t>
            </a:r>
            <a:r>
              <a:rPr lang="ko-KR" altLang="en-US" b="0" dirty="0" smtClean="0">
                <a:solidFill>
                  <a:schemeClr val="tx1"/>
                </a:solidFill>
              </a:rPr>
              <a:t>순 오름차순</a:t>
            </a:r>
            <a:endParaRPr lang="ko-KR" altLang="en-US" b="0" dirty="0">
              <a:solidFill>
                <a:schemeClr val="tx1"/>
              </a:solidFill>
            </a:endParaRPr>
          </a:p>
        </p:txBody>
      </p:sp>
      <p:cxnSp>
        <p:nvCxnSpPr>
          <p:cNvPr id="58" name="꺾인 연결선 57"/>
          <p:cNvCxnSpPr>
            <a:stCxn id="59" idx="4"/>
            <a:endCxn id="60" idx="1"/>
          </p:cNvCxnSpPr>
          <p:nvPr/>
        </p:nvCxnSpPr>
        <p:spPr>
          <a:xfrm rot="16200000" flipH="1">
            <a:off x="4987711" y="1463440"/>
            <a:ext cx="70475" cy="580183"/>
          </a:xfrm>
          <a:prstGeom prst="bentConnector2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4696853" y="1646287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5313040" y="1665659"/>
            <a:ext cx="2746110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0" dirty="0" smtClean="0">
                <a:solidFill>
                  <a:schemeClr val="tx1"/>
                </a:solidFill>
              </a:rPr>
              <a:t>APDU </a:t>
            </a:r>
            <a:r>
              <a:rPr lang="ko-KR" altLang="en-US" b="0" dirty="0" smtClean="0">
                <a:solidFill>
                  <a:schemeClr val="tx1"/>
                </a:solidFill>
              </a:rPr>
              <a:t>탭의 로그 위치 확인</a:t>
            </a:r>
            <a:endParaRPr lang="ko-KR" alt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68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5464871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참고</a:t>
            </a:r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]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색상 규칙 정리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73622" y="1523872"/>
            <a:ext cx="3168352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Red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	=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['ERROR']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b="1" dirty="0" smtClean="0">
                <a:solidFill>
                  <a:srgbClr val="CC00FF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Magenta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	=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['Re-Sync']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Grey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	=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['(X)','(*)','Unknown']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 smtClean="0">
                <a:solidFill>
                  <a:schemeClr val="accent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Yellow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	=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['ENVELOPE','REFRESH']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b="1" dirty="0" smtClean="0">
                <a:solidFill>
                  <a:srgbClr val="00B0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Cyan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	=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['RESET', 'POWER']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Light blue 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	=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['MANAGE CHANNEL']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 smtClean="0">
                <a:solidFill>
                  <a:schemeClr val="accent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Light green 	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=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['AUTHENTICATE']</a:t>
            </a:r>
          </a:p>
        </p:txBody>
      </p:sp>
      <p:sp>
        <p:nvSpPr>
          <p:cNvPr id="31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 txBox="1">
            <a:spLocks/>
          </p:cNvSpPr>
          <p:nvPr/>
        </p:nvSpPr>
        <p:spPr>
          <a:xfrm>
            <a:off x="313582" y="630292"/>
            <a:ext cx="5464871" cy="490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4295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(1) APDU Tab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3622" y="5014917"/>
            <a:ext cx="640871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accent4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Yellow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	= [‘IMSI’, ‘MSISDN’, ‘OPLMNwAcT’, ‘ACC’, ‘Routing Indicator’, ‘IMPI’, ‘IMPU’] 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accent6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Light green 	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= </a:t>
            </a:r>
            <a:r>
              <a:rPr lang="ko-KR" altLang="en-US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상기 </a:t>
            </a:r>
            <a:r>
              <a:rPr lang="en-US" altLang="ko-KR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EF </a:t>
            </a:r>
            <a:r>
              <a:rPr lang="ko-KR" altLang="en-US" sz="1200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파일 외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 txBox="1">
            <a:spLocks/>
          </p:cNvSpPr>
          <p:nvPr/>
        </p:nvSpPr>
        <p:spPr>
          <a:xfrm>
            <a:off x="313582" y="4081067"/>
            <a:ext cx="5464871" cy="490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4295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(2) File System Tab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488505" y="1037752"/>
            <a:ext cx="7714662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b="1" dirty="0"/>
              <a:t> </a:t>
            </a:r>
            <a:r>
              <a:rPr lang="en-US" altLang="ko-KR" sz="1400" b="1" dirty="0" smtClean="0"/>
              <a:t>APDU Summary </a:t>
            </a:r>
            <a:r>
              <a:rPr lang="ko-KR" altLang="en-US" sz="1400" b="1" dirty="0" smtClean="0"/>
              <a:t>요약 메시지의 하기 문자열 포함 여부 기준으로 색상 적용</a:t>
            </a:r>
            <a:endParaRPr lang="en-US" altLang="ko-KR" sz="1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488504" y="4530977"/>
            <a:ext cx="83940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b="1" dirty="0" smtClean="0"/>
              <a:t>EF File</a:t>
            </a:r>
            <a:r>
              <a:rPr lang="ko-KR" altLang="en-US" sz="1400" b="1" dirty="0" smtClean="0"/>
              <a:t>의 </a:t>
            </a:r>
            <a:r>
              <a:rPr lang="en-US" altLang="ko-KR" sz="1400" b="1" dirty="0" smtClean="0"/>
              <a:t>Contents </a:t>
            </a:r>
            <a:r>
              <a:rPr lang="ko-KR" altLang="en-US" sz="1400" b="1" dirty="0" smtClean="0"/>
              <a:t>변경 발생 시에만 적용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하기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문자열 포함 여부에 따라 자사 개통 데이터 대상 </a:t>
            </a:r>
            <a:r>
              <a:rPr lang="en-US" altLang="ko-KR" sz="1400" b="1" dirty="0" smtClean="0"/>
              <a:t>EF </a:t>
            </a:r>
            <a:r>
              <a:rPr lang="ko-KR" altLang="en-US" sz="1400" b="1" dirty="0" smtClean="0"/>
              <a:t>파일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구분</a:t>
            </a:r>
            <a:endParaRPr lang="en-US" altLang="ko-KR" sz="1400" b="1" dirty="0"/>
          </a:p>
        </p:txBody>
      </p:sp>
      <p:cxnSp>
        <p:nvCxnSpPr>
          <p:cNvPr id="42" name="꺾인 연결선 41"/>
          <p:cNvCxnSpPr>
            <a:stCxn id="47" idx="6"/>
            <a:endCxn id="48" idx="1"/>
          </p:cNvCxnSpPr>
          <p:nvPr/>
        </p:nvCxnSpPr>
        <p:spPr>
          <a:xfrm flipV="1">
            <a:off x="2360712" y="1687597"/>
            <a:ext cx="1800200" cy="478961"/>
          </a:xfrm>
          <a:prstGeom prst="bentConnector3">
            <a:avLst>
              <a:gd name="adj1" fmla="val 21957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/>
          <p:cNvSpPr/>
          <p:nvPr/>
        </p:nvSpPr>
        <p:spPr>
          <a:xfrm>
            <a:off x="2288704" y="2130554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160912" y="1556792"/>
            <a:ext cx="2746110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sz="1100" dirty="0">
                <a:solidFill>
                  <a:schemeClr val="tx1"/>
                </a:solidFill>
              </a:rPr>
              <a:t>(*)</a:t>
            </a:r>
            <a:r>
              <a:rPr lang="en-US" altLang="ko-KR" sz="1100" b="0" dirty="0">
                <a:solidFill>
                  <a:schemeClr val="tx1"/>
                </a:solidFill>
              </a:rPr>
              <a:t> : APDU </a:t>
            </a:r>
            <a:r>
              <a:rPr lang="ko-KR" altLang="en-US" sz="1100" b="0" dirty="0">
                <a:solidFill>
                  <a:schemeClr val="tx1"/>
                </a:solidFill>
              </a:rPr>
              <a:t>메시지 내 누락 발생 시</a:t>
            </a:r>
          </a:p>
        </p:txBody>
      </p:sp>
      <p:cxnSp>
        <p:nvCxnSpPr>
          <p:cNvPr id="49" name="꺾인 연결선 48"/>
          <p:cNvCxnSpPr>
            <a:stCxn id="53" idx="6"/>
            <a:endCxn id="54" idx="1"/>
          </p:cNvCxnSpPr>
          <p:nvPr/>
        </p:nvCxnSpPr>
        <p:spPr>
          <a:xfrm>
            <a:off x="2899310" y="2384884"/>
            <a:ext cx="1261602" cy="560787"/>
          </a:xfrm>
          <a:prstGeom prst="bentConnector3">
            <a:avLst>
              <a:gd name="adj1" fmla="val 58305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/>
          <p:cNvSpPr/>
          <p:nvPr/>
        </p:nvSpPr>
        <p:spPr>
          <a:xfrm>
            <a:off x="2827302" y="2348880"/>
            <a:ext cx="72008" cy="720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6D3A5F-DFFA-4EA6-9C98-77B5DF9468AE}"/>
              </a:ext>
            </a:extLst>
          </p:cNvPr>
          <p:cNvSpPr txBox="1"/>
          <p:nvPr/>
        </p:nvSpPr>
        <p:spPr>
          <a:xfrm>
            <a:off x="4160912" y="2814866"/>
            <a:ext cx="390693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sz="1100" b="0" dirty="0" smtClean="0">
                <a:solidFill>
                  <a:schemeClr val="tx1"/>
                </a:solidFill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</a:rPr>
              <a:t>Unknown</a:t>
            </a:r>
            <a:r>
              <a:rPr lang="en-US" altLang="ko-KR" sz="1100" b="0" dirty="0" smtClean="0">
                <a:solidFill>
                  <a:schemeClr val="tx1"/>
                </a:solidFill>
              </a:rPr>
              <a:t> : </a:t>
            </a:r>
            <a:r>
              <a:rPr lang="ko-KR" altLang="en-US" sz="1100" b="0" dirty="0" smtClean="0">
                <a:solidFill>
                  <a:schemeClr val="tx1"/>
                </a:solidFill>
              </a:rPr>
              <a:t>스펙 미포함 </a:t>
            </a:r>
            <a:r>
              <a:rPr lang="en-US" altLang="ko-KR" sz="1100" b="0" dirty="0" smtClean="0">
                <a:solidFill>
                  <a:schemeClr val="tx1"/>
                </a:solidFill>
              </a:rPr>
              <a:t>Instruction(INS) code</a:t>
            </a:r>
            <a:endParaRPr lang="ko-KR" altLang="en-US" sz="1100" b="0" dirty="0">
              <a:solidFill>
                <a:schemeClr val="tx1"/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920" y="3141430"/>
            <a:ext cx="5328592" cy="794747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920" y="1873868"/>
            <a:ext cx="5484643" cy="78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4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8129167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(3) </a:t>
            </a:r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QCAT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[1/6</a:t>
            </a:r>
            <a:r>
              <a:rPr lang="en-US" altLang="ko-KR" sz="1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1. QCAT </a:t>
            </a:r>
            <a:r>
              <a:rPr lang="ko-KR" altLang="en-US" sz="1200" b="1" dirty="0"/>
              <a:t>에서 단말 </a:t>
            </a:r>
            <a:r>
              <a:rPr lang="en-US" altLang="ko-KR" sz="1200" b="1" dirty="0"/>
              <a:t>CP </a:t>
            </a:r>
            <a:r>
              <a:rPr lang="ko-KR" altLang="en-US" sz="1200" b="1" dirty="0"/>
              <a:t>로그 열기 </a:t>
            </a:r>
            <a:r>
              <a:rPr lang="en-US" altLang="ko-KR" sz="1200" b="1" dirty="0"/>
              <a:t>(*.bin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*.qdss)</a:t>
            </a:r>
            <a:br>
              <a:rPr lang="en-US" altLang="ko-KR" sz="1200" b="1" dirty="0"/>
            </a:br>
            <a:r>
              <a:rPr lang="en-US" altLang="ko-KR" sz="1200" b="1" dirty="0"/>
              <a:t>  </a:t>
            </a:r>
            <a:r>
              <a:rPr lang="en-US" altLang="ko-KR" sz="1200" dirty="0"/>
              <a:t>※ </a:t>
            </a:r>
            <a:r>
              <a:rPr lang="ko-KR" altLang="en-US" sz="1200" dirty="0"/>
              <a:t>단말 제조사 별 </a:t>
            </a:r>
            <a:r>
              <a:rPr lang="en-US" altLang="ko-KR" sz="1200" dirty="0"/>
              <a:t>CP </a:t>
            </a:r>
            <a:r>
              <a:rPr lang="ko-KR" altLang="en-US" sz="1200" dirty="0"/>
              <a:t>로그 확보 방법은</a:t>
            </a:r>
            <a:r>
              <a:rPr lang="en-US" altLang="ko-KR" sz="1200" dirty="0"/>
              <a:t> </a:t>
            </a:r>
            <a:r>
              <a:rPr lang="ko-KR" altLang="en-US" sz="1200" dirty="0"/>
              <a:t>각 제조사 </a:t>
            </a:r>
            <a:r>
              <a:rPr lang="en-US" altLang="ko-KR" sz="1200" dirty="0"/>
              <a:t>PM </a:t>
            </a:r>
            <a:r>
              <a:rPr lang="ko-KR" altLang="en-US" sz="1200" dirty="0"/>
              <a:t>통해 확인 </a:t>
            </a:r>
            <a:r>
              <a:rPr lang="en-US" altLang="ko-KR" sz="1200" dirty="0"/>
              <a:t>(</a:t>
            </a:r>
            <a:r>
              <a:rPr lang="ko-KR" altLang="en-US" sz="1200" dirty="0"/>
              <a:t>삼성 </a:t>
            </a:r>
            <a:r>
              <a:rPr lang="en-US" altLang="ko-KR" sz="1200" dirty="0"/>
              <a:t>silent log dump, </a:t>
            </a:r>
            <a:r>
              <a:rPr lang="ko-KR" altLang="en-US" sz="1200" dirty="0"/>
              <a:t>애플 </a:t>
            </a:r>
            <a:r>
              <a:rPr lang="en-US" altLang="ko-KR" sz="1200" dirty="0"/>
              <a:t>carrier dump)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F8E2B1-D478-48AE-9D2B-449E0CBD6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05" y="1196752"/>
            <a:ext cx="2721792" cy="29790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F9E18AC-ECDC-4A04-B6D4-968AFC8F7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848" y="1260994"/>
            <a:ext cx="5180035" cy="29147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5864AC-1DB9-4540-A5C6-2AE51DE50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05" y="5157192"/>
            <a:ext cx="6941876" cy="14533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70297F-B098-4FE8-BFB0-163AE3A7882C}"/>
              </a:ext>
            </a:extLst>
          </p:cNvPr>
          <p:cNvSpPr txBox="1"/>
          <p:nvPr/>
        </p:nvSpPr>
        <p:spPr>
          <a:xfrm>
            <a:off x="268870" y="4479149"/>
            <a:ext cx="7714662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2. QCAT </a:t>
            </a:r>
            <a:r>
              <a:rPr lang="ko-KR" altLang="en-US" sz="1200" b="1" dirty="0"/>
              <a:t>에서 파일 </a:t>
            </a:r>
            <a:r>
              <a:rPr lang="en-US" altLang="ko-KR" sz="1200" b="1" dirty="0"/>
              <a:t>Open </a:t>
            </a:r>
            <a:r>
              <a:rPr lang="ko-KR" altLang="en-US" sz="1200" b="1" dirty="0"/>
              <a:t>시 </a:t>
            </a:r>
            <a:r>
              <a:rPr lang="en-US" altLang="ko-KR" sz="1200" b="1" dirty="0"/>
              <a:t>HDF</a:t>
            </a:r>
            <a:r>
              <a:rPr lang="ko-KR" altLang="en-US" sz="1200" b="1" dirty="0"/>
              <a:t> 로그 파일 자동 생성됨</a:t>
            </a:r>
            <a:r>
              <a:rPr lang="en-US" altLang="ko-KR" sz="1200" b="1" dirty="0"/>
              <a:t/>
            </a:r>
            <a:br>
              <a:rPr lang="en-US" altLang="ko-KR" sz="1200" b="1" dirty="0"/>
            </a:br>
            <a:r>
              <a:rPr lang="en-US" altLang="ko-KR" sz="1200" dirty="0"/>
              <a:t>  ※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HDF(*.hdf)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파일 생성 루트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en-US" altLang="ko-KR" sz="1200" dirty="0"/>
              <a:t>C:\Users\User\AppData\Local\Temp\QDSS</a:t>
            </a:r>
          </a:p>
        </p:txBody>
      </p:sp>
    </p:spTree>
    <p:extLst>
      <p:ext uri="{BB962C8B-B14F-4D97-AF65-F5344CB8AC3E}">
        <p14:creationId xmlns:p14="http://schemas.microsoft.com/office/powerpoint/2010/main" val="64983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3. QCAT </a:t>
            </a:r>
            <a:r>
              <a:rPr lang="ko-KR" altLang="en-US" sz="1200" b="1" dirty="0"/>
              <a:t>에서 </a:t>
            </a:r>
            <a:r>
              <a:rPr lang="en-US" altLang="ko-KR" sz="1200" b="1" dirty="0"/>
              <a:t>HDF </a:t>
            </a:r>
            <a:r>
              <a:rPr lang="ko-KR" altLang="en-US" sz="1200" b="1" dirty="0"/>
              <a:t>로그 파일 열기 </a:t>
            </a:r>
            <a:r>
              <a:rPr lang="en-US" altLang="ko-KR" sz="1200" b="1" dirty="0"/>
              <a:t>(*.hdf)</a:t>
            </a:r>
            <a:endParaRPr lang="en-US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352F52-CB3F-457E-8C7A-67EBB2612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898" y="959596"/>
            <a:ext cx="3600400" cy="8821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6F30EE-D2F3-4127-A06D-792BEA0A79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00" r="579"/>
          <a:stretch/>
        </p:blipFill>
        <p:spPr>
          <a:xfrm>
            <a:off x="493407" y="3103249"/>
            <a:ext cx="6125583" cy="8057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833B45-A07B-4761-AE9E-33AA3F65022B}"/>
              </a:ext>
            </a:extLst>
          </p:cNvPr>
          <p:cNvSpPr txBox="1"/>
          <p:nvPr/>
        </p:nvSpPr>
        <p:spPr>
          <a:xfrm>
            <a:off x="272480" y="2420888"/>
            <a:ext cx="7714662" cy="616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4. </a:t>
            </a:r>
            <a:r>
              <a:rPr lang="ko-KR" altLang="en-US" sz="1200" b="1" dirty="0"/>
              <a:t>로그 파일 열기 완료 </a:t>
            </a:r>
            <a:r>
              <a:rPr lang="en-US" altLang="ko-KR" sz="1200" b="1" dirty="0">
                <a:sym typeface="Wingdings" panose="05000000000000000000" pitchFamily="2" charset="2"/>
              </a:rPr>
              <a:t> </a:t>
            </a:r>
            <a:r>
              <a:rPr lang="en-US" altLang="ko-KR" sz="1200" b="1" dirty="0"/>
              <a:t>“Filter” </a:t>
            </a:r>
            <a:r>
              <a:rPr lang="ko-KR" altLang="en-US" sz="1200" b="1" dirty="0"/>
              <a:t>버튼 클릭 </a:t>
            </a:r>
            <a:r>
              <a:rPr lang="en-US" altLang="ko-KR" sz="1200" b="1" dirty="0">
                <a:sym typeface="Wingdings" panose="05000000000000000000" pitchFamily="2" charset="2"/>
              </a:rPr>
              <a:t></a:t>
            </a:r>
            <a:r>
              <a:rPr lang="ko-KR" altLang="en-US" sz="1200" b="1" dirty="0"/>
              <a:t>  </a:t>
            </a:r>
            <a:r>
              <a:rPr lang="en-US" altLang="ko-KR" sz="1200" b="1" dirty="0"/>
              <a:t>All Logs </a:t>
            </a:r>
            <a:r>
              <a:rPr lang="ko-KR" altLang="en-US" sz="1200" b="1" dirty="0"/>
              <a:t>체크 해제 </a:t>
            </a:r>
            <a:r>
              <a:rPr lang="en-US" altLang="ko-KR" sz="1200" b="1" dirty="0">
                <a:sym typeface="Wingdings" panose="05000000000000000000" pitchFamily="2" charset="2"/>
              </a:rPr>
              <a:t>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“19B7” </a:t>
            </a:r>
            <a:r>
              <a:rPr lang="ko-KR" altLang="en-US" sz="1200" b="1" dirty="0"/>
              <a:t>검색 후 선택</a:t>
            </a:r>
            <a:r>
              <a:rPr lang="en-US" altLang="ko-KR" sz="1200" b="1" dirty="0"/>
              <a:t/>
            </a:r>
            <a:br>
              <a:rPr lang="en-US" altLang="ko-KR" sz="1200" b="1" dirty="0"/>
            </a:br>
            <a:r>
              <a:rPr lang="en-US" altLang="ko-KR" sz="1200" b="1" dirty="0"/>
              <a:t>  </a:t>
            </a:r>
            <a:r>
              <a:rPr lang="en-US" altLang="ko-KR" sz="1200" dirty="0"/>
              <a:t>※ SIM APDU </a:t>
            </a:r>
            <a:r>
              <a:rPr lang="ko-KR" altLang="en-US" sz="1200" dirty="0"/>
              <a:t>로그는 </a:t>
            </a:r>
            <a:r>
              <a:rPr lang="en-US" altLang="ko-KR" sz="1200" dirty="0"/>
              <a:t>hash </a:t>
            </a:r>
            <a:r>
              <a:rPr lang="ko-KR" altLang="en-US" sz="1200" dirty="0"/>
              <a:t>파일 없이도 </a:t>
            </a:r>
            <a:r>
              <a:rPr lang="en-US" altLang="ko-KR" sz="1200" dirty="0"/>
              <a:t>Parsing</a:t>
            </a:r>
            <a:r>
              <a:rPr lang="ko-KR" altLang="en-US" sz="1200" dirty="0"/>
              <a:t> 가능함</a:t>
            </a:r>
            <a:r>
              <a:rPr lang="en-US" altLang="ko-KR" sz="1200" dirty="0"/>
              <a:t> (“No” </a:t>
            </a:r>
            <a:r>
              <a:rPr lang="ko-KR" altLang="en-US" sz="1200" dirty="0"/>
              <a:t>선택</a:t>
            </a:r>
            <a:r>
              <a:rPr lang="en-US" altLang="ko-KR" sz="1200" dirty="0"/>
              <a:t>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D2A735-C27A-4655-8A40-C112CC3C673D}"/>
              </a:ext>
            </a:extLst>
          </p:cNvPr>
          <p:cNvSpPr/>
          <p:nvPr/>
        </p:nvSpPr>
        <p:spPr>
          <a:xfrm>
            <a:off x="2379409" y="3416131"/>
            <a:ext cx="316835" cy="2708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8ED8BA0-32ED-4344-9574-DCA3A4A15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07" y="4057354"/>
            <a:ext cx="2844083" cy="262988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456C481-F0A9-49B6-98E8-933039044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428" y="4057354"/>
            <a:ext cx="2847143" cy="263271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4E8E70-638C-4637-A52D-D54EA5113083}"/>
              </a:ext>
            </a:extLst>
          </p:cNvPr>
          <p:cNvSpPr/>
          <p:nvPr/>
        </p:nvSpPr>
        <p:spPr>
          <a:xfrm>
            <a:off x="768147" y="4657998"/>
            <a:ext cx="504056" cy="958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16091C-4407-4292-AD42-8DB145165A17}"/>
              </a:ext>
            </a:extLst>
          </p:cNvPr>
          <p:cNvSpPr txBox="1"/>
          <p:nvPr/>
        </p:nvSpPr>
        <p:spPr>
          <a:xfrm>
            <a:off x="1251787" y="4664730"/>
            <a:ext cx="14612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All logs </a:t>
            </a:r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체크 해제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FCDD8-1774-4B58-B0B4-99E8FF9195F4}"/>
              </a:ext>
            </a:extLst>
          </p:cNvPr>
          <p:cNvSpPr txBox="1"/>
          <p:nvPr/>
        </p:nvSpPr>
        <p:spPr>
          <a:xfrm>
            <a:off x="4095870" y="4459698"/>
            <a:ext cx="18652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 “19B7” </a:t>
            </a:r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입력 후 </a:t>
            </a:r>
            <a:r>
              <a:rPr lang="en-US" altLang="ko-KR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Enter</a:t>
            </a:r>
            <a:endParaRPr lang="ko-KR" altLang="en-US" sz="1000" b="1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542CB6-A3D3-4010-9C2F-7B6821FF7E41}"/>
              </a:ext>
            </a:extLst>
          </p:cNvPr>
          <p:cNvSpPr txBox="1"/>
          <p:nvPr/>
        </p:nvSpPr>
        <p:spPr>
          <a:xfrm>
            <a:off x="2938356" y="3662810"/>
            <a:ext cx="1399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Filter </a:t>
            </a:r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버튼 클릭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B3E585-79A2-42FE-9267-719EE6D7B64F}"/>
              </a:ext>
            </a:extLst>
          </p:cNvPr>
          <p:cNvSpPr txBox="1"/>
          <p:nvPr/>
        </p:nvSpPr>
        <p:spPr>
          <a:xfrm>
            <a:off x="6376571" y="6149629"/>
            <a:ext cx="18652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④ “UIM APDU” </a:t>
            </a:r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체크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B4F971-A9A7-4989-931A-F150ACBC1804}"/>
              </a:ext>
            </a:extLst>
          </p:cNvPr>
          <p:cNvSpPr/>
          <p:nvPr/>
        </p:nvSpPr>
        <p:spPr>
          <a:xfrm>
            <a:off x="5359881" y="6461725"/>
            <a:ext cx="448826" cy="1440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8A972B-3DDE-4E11-AE94-C9BED8D7CEAD}"/>
              </a:ext>
            </a:extLst>
          </p:cNvPr>
          <p:cNvSpPr txBox="1"/>
          <p:nvPr/>
        </p:nvSpPr>
        <p:spPr>
          <a:xfrm>
            <a:off x="6376571" y="6441017"/>
            <a:ext cx="18652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⑤ “OK” </a:t>
            </a:r>
            <a:r>
              <a:rPr lang="ko-KR" altLang="en-US" sz="10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클릭하여 필터 적용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F121B28-CC77-4EEE-8831-4A12A85591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07" y="955924"/>
            <a:ext cx="4200473" cy="138535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2D14C5B-51A3-459A-999C-B879E591BC35}"/>
              </a:ext>
            </a:extLst>
          </p:cNvPr>
          <p:cNvSpPr txBox="1"/>
          <p:nvPr/>
        </p:nvSpPr>
        <p:spPr>
          <a:xfrm>
            <a:off x="4952999" y="1886933"/>
            <a:ext cx="49536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※ “No” </a:t>
            </a:r>
            <a:r>
              <a:rPr lang="ko-KR" altLang="en-US" dirty="0"/>
              <a:t>선택 가능 </a:t>
            </a:r>
            <a:r>
              <a:rPr lang="en-US" altLang="ko-KR" dirty="0"/>
              <a:t>(SIM APDU </a:t>
            </a:r>
            <a:r>
              <a:rPr lang="ko-KR" altLang="en-US" dirty="0"/>
              <a:t>로그는 </a:t>
            </a:r>
            <a:r>
              <a:rPr lang="en-US" altLang="ko-KR" dirty="0"/>
              <a:t>hash </a:t>
            </a:r>
            <a:r>
              <a:rPr lang="ko-KR" altLang="en-US" dirty="0"/>
              <a:t>파일 없이도 </a:t>
            </a:r>
            <a:r>
              <a:rPr lang="en-US" altLang="ko-KR" dirty="0"/>
              <a:t>Parsing</a:t>
            </a:r>
            <a:r>
              <a:rPr lang="ko-KR" altLang="en-US" dirty="0"/>
              <a:t> 가능함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5752903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(3)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QCAT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2/6]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389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5. </a:t>
            </a:r>
            <a:r>
              <a:rPr lang="ko-KR" altLang="en-US" sz="1200" b="1" dirty="0"/>
              <a:t>필터 적용 완료 후 텍스트 파일로 저장하기 </a:t>
            </a:r>
            <a:r>
              <a:rPr lang="en-US" altLang="ko-KR" sz="1200" b="1" dirty="0"/>
              <a:t>(*.txt)</a:t>
            </a: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F57A4E-9EE3-46D5-A40A-86A06CE867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6" r="424"/>
          <a:stretch/>
        </p:blipFill>
        <p:spPr>
          <a:xfrm>
            <a:off x="452500" y="980134"/>
            <a:ext cx="7354622" cy="57826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B5E133-A7B6-46F1-B73F-20B64C8AC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28" y="2276872"/>
            <a:ext cx="4261760" cy="29066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CC1C85-EACC-4946-ACA9-6C263BDE643F}"/>
              </a:ext>
            </a:extLst>
          </p:cNvPr>
          <p:cNvSpPr txBox="1"/>
          <p:nvPr/>
        </p:nvSpPr>
        <p:spPr>
          <a:xfrm>
            <a:off x="2864768" y="3748359"/>
            <a:ext cx="37394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※ QXDM-SIM-APDU-Analyzer </a:t>
            </a:r>
            <a:r>
              <a:rPr lang="ko-KR" altLang="en-US" dirty="0"/>
              <a:t>실행 파일 </a:t>
            </a:r>
            <a:r>
              <a:rPr lang="en-US" altLang="ko-KR" dirty="0"/>
              <a:t>(*.exe) </a:t>
            </a:r>
            <a:r>
              <a:rPr lang="ko-KR" altLang="en-US" dirty="0"/>
              <a:t>있는 루트에 저장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396058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(3)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QCAT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3/6]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768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6. QXDM-SIM-APDU-Analyzer </a:t>
            </a:r>
            <a:r>
              <a:rPr lang="ko-KR" altLang="en-US" sz="1200" b="1" dirty="0"/>
              <a:t>실행 후 </a:t>
            </a:r>
            <a:r>
              <a:rPr lang="en-US" altLang="ko-KR" sz="1200" b="1" u="sng" dirty="0"/>
              <a:t>“Open file” </a:t>
            </a:r>
            <a:r>
              <a:rPr lang="ko-KR" altLang="en-US" sz="1200" b="1" dirty="0"/>
              <a:t>버튼 클릭하여 저장한 텍스트 파일 열기</a:t>
            </a:r>
            <a:endParaRPr lang="en-US" altLang="ko-KR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C8946B-7C66-4750-A626-072C69A4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1075327"/>
            <a:ext cx="3333750" cy="98107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C5DAA1-7CC1-4949-9754-4A4A10169672}"/>
              </a:ext>
            </a:extLst>
          </p:cNvPr>
          <p:cNvSpPr/>
          <p:nvPr/>
        </p:nvSpPr>
        <p:spPr>
          <a:xfrm flipH="1" flipV="1">
            <a:off x="585679" y="1390757"/>
            <a:ext cx="1152128" cy="2380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35433E1-BC57-4528-BCF7-B1E41C235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361" y="1108875"/>
            <a:ext cx="6075213" cy="281534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4BD727-A6AF-44F3-892D-65FE39661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9" y="4493984"/>
            <a:ext cx="847725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FF1103-7A08-47DA-9AE0-6F0BB7B897AE}"/>
              </a:ext>
            </a:extLst>
          </p:cNvPr>
          <p:cNvSpPr txBox="1"/>
          <p:nvPr/>
        </p:nvSpPr>
        <p:spPr>
          <a:xfrm>
            <a:off x="272480" y="3995882"/>
            <a:ext cx="771466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7. </a:t>
            </a:r>
            <a:r>
              <a:rPr lang="ko-KR" altLang="en-US" sz="1200" b="1" dirty="0"/>
              <a:t>텍스트 파일 열기 완료 화면</a:t>
            </a:r>
            <a:endParaRPr lang="en-US" altLang="ko-K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7829F-5210-4355-AB5A-86F26FD29D06}"/>
              </a:ext>
            </a:extLst>
          </p:cNvPr>
          <p:cNvSpPr txBox="1"/>
          <p:nvPr/>
        </p:nvSpPr>
        <p:spPr>
          <a:xfrm>
            <a:off x="843071" y="4658687"/>
            <a:ext cx="20673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파일 열기 </a:t>
            </a:r>
            <a:r>
              <a:rPr lang="ko-KR" altLang="en-US"/>
              <a:t>완료되면 버튼 비활성화됨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98963-19F7-4990-AB49-C8907B18B99E}"/>
              </a:ext>
            </a:extLst>
          </p:cNvPr>
          <p:cNvSpPr txBox="1"/>
          <p:nvPr/>
        </p:nvSpPr>
        <p:spPr>
          <a:xfrm>
            <a:off x="3008784" y="4637768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텍스트 파일에 </a:t>
            </a:r>
            <a:r>
              <a:rPr lang="en-US" altLang="ko-KR" dirty="0"/>
              <a:t>APDU log </a:t>
            </a:r>
            <a:r>
              <a:rPr lang="ko-KR" altLang="en-US" dirty="0"/>
              <a:t>정상적으로 포함되어 있는지 표시됨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874399E-C7AD-449C-BB6F-D65787C3F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9" y="5567226"/>
            <a:ext cx="8086725" cy="9048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61C75B3-8CA0-4AA0-AD52-9BBECFB352E0}"/>
              </a:ext>
            </a:extLst>
          </p:cNvPr>
          <p:cNvSpPr txBox="1"/>
          <p:nvPr/>
        </p:nvSpPr>
        <p:spPr>
          <a:xfrm>
            <a:off x="3008784" y="5659562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잘못된 텍스트 파일을 불러온 경우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241591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(3)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QCAT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4/6]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057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8. SIM1,2 </a:t>
            </a:r>
            <a:r>
              <a:rPr lang="ko-KR" altLang="en-US" sz="1200" b="1" dirty="0"/>
              <a:t>선택 후 </a:t>
            </a:r>
            <a:r>
              <a:rPr lang="en-US" altLang="ko-KR" sz="1200" b="1" dirty="0"/>
              <a:t>“Execute” </a:t>
            </a:r>
            <a:r>
              <a:rPr lang="ko-KR" altLang="en-US" sz="1200" b="1" dirty="0"/>
              <a:t>버튼 클릭</a:t>
            </a:r>
            <a:endParaRPr lang="en-US" altLang="ko-KR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5D2B810-0D69-40EA-AA63-2531A235B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2" y="957387"/>
            <a:ext cx="6696744" cy="7398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8FD7ED6-6EE5-463F-A79A-90283888B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18" y="1911618"/>
            <a:ext cx="6696744" cy="76621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442954-B3B6-4C8C-B039-F0C2AF958260}"/>
              </a:ext>
            </a:extLst>
          </p:cNvPr>
          <p:cNvSpPr/>
          <p:nvPr/>
        </p:nvSpPr>
        <p:spPr>
          <a:xfrm flipH="1" flipV="1">
            <a:off x="1614436" y="1424312"/>
            <a:ext cx="932236" cy="2044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A3DB1C-EDAC-4BFE-85DF-FF8DF5C2404A}"/>
              </a:ext>
            </a:extLst>
          </p:cNvPr>
          <p:cNvSpPr txBox="1"/>
          <p:nvPr/>
        </p:nvSpPr>
        <p:spPr>
          <a:xfrm>
            <a:off x="1614436" y="2561175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“Execute” </a:t>
            </a:r>
            <a:r>
              <a:rPr lang="ko-KR" altLang="en-US" dirty="0"/>
              <a:t>버튼 비활성화되고</a:t>
            </a:r>
            <a:r>
              <a:rPr lang="en-US" altLang="ko-KR" dirty="0"/>
              <a:t>, </a:t>
            </a:r>
            <a:r>
              <a:rPr lang="ko-KR" altLang="en-US" dirty="0"/>
              <a:t>결과 메시지 출력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8F2D327-7532-4163-8F63-EB9F0A7AE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37" y="2860668"/>
            <a:ext cx="6694025" cy="74887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392B4CE-9AEE-4ABC-9D7B-EC24565C042A}"/>
              </a:ext>
            </a:extLst>
          </p:cNvPr>
          <p:cNvSpPr txBox="1"/>
          <p:nvPr/>
        </p:nvSpPr>
        <p:spPr>
          <a:xfrm>
            <a:off x="1641605" y="3581271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SIM1,2 </a:t>
            </a:r>
            <a:r>
              <a:rPr lang="ko-KR" altLang="en-US" dirty="0"/>
              <a:t>변경 시 </a:t>
            </a:r>
            <a:r>
              <a:rPr lang="en-US" altLang="ko-KR" dirty="0"/>
              <a:t>“Execute” </a:t>
            </a:r>
            <a:r>
              <a:rPr lang="ko-KR" altLang="en-US" dirty="0"/>
              <a:t>버튼 다시 활성화됨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11BBA2-E133-4A2F-9FE8-98BB3B7F7B1B}"/>
              </a:ext>
            </a:extLst>
          </p:cNvPr>
          <p:cNvSpPr txBox="1"/>
          <p:nvPr/>
        </p:nvSpPr>
        <p:spPr>
          <a:xfrm>
            <a:off x="1568569" y="1633799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SIM1,2 </a:t>
            </a:r>
            <a:r>
              <a:rPr lang="ko-KR" altLang="en-US" dirty="0"/>
              <a:t>선택 후 </a:t>
            </a:r>
            <a:r>
              <a:rPr lang="en-US" altLang="ko-KR" dirty="0"/>
              <a:t>“Execute” </a:t>
            </a:r>
            <a:r>
              <a:rPr lang="ko-KR" altLang="en-US" dirty="0"/>
              <a:t>버튼 클릭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977039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(3)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QCAT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5/6]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374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9. </a:t>
            </a:r>
            <a:r>
              <a:rPr lang="ko-KR" altLang="en-US" sz="1200" b="1" dirty="0"/>
              <a:t>결과 화면</a:t>
            </a: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97" y="975320"/>
            <a:ext cx="7528945" cy="5773663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977039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(3)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QCAT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6/6]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695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400975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(4) </a:t>
            </a:r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QXDM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1/5] 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 smtClean="0"/>
              <a:t>1. </a:t>
            </a:r>
            <a:r>
              <a:rPr lang="ko-KR" altLang="en-US" sz="1200" b="1" dirty="0"/>
              <a:t>단말 포트 연결</a:t>
            </a:r>
            <a:r>
              <a:rPr lang="en-US" altLang="ko-KR" sz="1200" b="1" dirty="0"/>
              <a:t/>
            </a:r>
            <a:br>
              <a:rPr lang="en-US" altLang="ko-KR" sz="1200" b="1" dirty="0"/>
            </a:br>
            <a:r>
              <a:rPr lang="en-US" altLang="ko-KR" sz="1200" b="1" dirty="0"/>
              <a:t> </a:t>
            </a:r>
            <a:r>
              <a:rPr lang="en-US" altLang="ko-KR" sz="1200" dirty="0"/>
              <a:t>※ </a:t>
            </a:r>
            <a:r>
              <a:rPr lang="ko-KR" altLang="en-US" sz="1200" dirty="0"/>
              <a:t>단말 제조사 별 포트 연결 방법은</a:t>
            </a:r>
            <a:r>
              <a:rPr lang="en-US" altLang="ko-KR" sz="1200" dirty="0"/>
              <a:t> </a:t>
            </a:r>
            <a:r>
              <a:rPr lang="ko-KR" altLang="en-US" sz="1200" dirty="0"/>
              <a:t>각 제조사 </a:t>
            </a:r>
            <a:r>
              <a:rPr lang="en-US" altLang="ko-KR" sz="1200" dirty="0"/>
              <a:t>PM </a:t>
            </a:r>
            <a:r>
              <a:rPr lang="ko-KR" altLang="en-US" sz="1200" dirty="0"/>
              <a:t>통해 확인 </a:t>
            </a:r>
            <a:r>
              <a:rPr lang="en-US" altLang="ko-KR" sz="1200" dirty="0"/>
              <a:t>(</a:t>
            </a:r>
            <a:r>
              <a:rPr lang="ko-KR" altLang="en-US" sz="1200" dirty="0"/>
              <a:t>삼성 </a:t>
            </a:r>
            <a:r>
              <a:rPr lang="en-US" altLang="ko-KR" sz="1200" dirty="0"/>
              <a:t>usb setting, </a:t>
            </a:r>
            <a:r>
              <a:rPr lang="ko-KR" altLang="en-US" sz="1200" dirty="0"/>
              <a:t>애플 </a:t>
            </a:r>
            <a:r>
              <a:rPr lang="en-US" altLang="ko-KR" sz="1200" dirty="0"/>
              <a:t>logging port </a:t>
            </a:r>
            <a:r>
              <a:rPr lang="ko-KR" altLang="en-US" sz="1200" dirty="0"/>
              <a:t>변경</a:t>
            </a:r>
            <a:r>
              <a:rPr lang="en-US" altLang="ko-KR" sz="1200" dirty="0"/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229A21-B16D-49FF-9F52-4D4DC517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54" y="1229455"/>
            <a:ext cx="2317629" cy="25696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077779C-CD02-46B9-BF51-DBEE712AD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54" y="3905698"/>
            <a:ext cx="9128123" cy="282451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C7FDB0-3FC6-48B1-8887-0150CF67B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792" y="1276801"/>
            <a:ext cx="47910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7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2</a:t>
            </a:r>
            <a:r>
              <a:rPr lang="en-US" altLang="ko-KR" sz="1200" b="1" dirty="0" smtClean="0"/>
              <a:t>. Filtered View </a:t>
            </a:r>
            <a:r>
              <a:rPr lang="ko-KR" altLang="en-US" sz="1200" b="1" dirty="0" smtClean="0"/>
              <a:t>생성 </a:t>
            </a:r>
            <a:r>
              <a:rPr lang="en-US" altLang="ko-KR" sz="1200" b="1" dirty="0" smtClean="0"/>
              <a:t>(0x19B7 UIM APDU)</a:t>
            </a: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85" y="984432"/>
            <a:ext cx="3429479" cy="99073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21" y="2132856"/>
            <a:ext cx="3961587" cy="36004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530263" y="3136618"/>
            <a:ext cx="1622869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832" y="2852936"/>
            <a:ext cx="6327841" cy="3672408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3591609" y="3691930"/>
            <a:ext cx="688255" cy="107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891766" y="3259728"/>
            <a:ext cx="216024" cy="2156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530263" y="3387334"/>
            <a:ext cx="2890535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Filtered View 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창에서 </a:t>
            </a:r>
            <a:r>
              <a:rPr lang="ko-KR" altLang="en-US" sz="1000" b="1" dirty="0" err="1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우클릭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후 </a:t>
            </a:r>
            <a:r>
              <a:rPr lang="en-US" altLang="ko-KR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“Configure” 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376936" y="3686835"/>
            <a:ext cx="1268296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Log Packets 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768271" y="3013507"/>
            <a:ext cx="1095172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  <a:r>
              <a:rPr lang="en-US" altLang="ko-KR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List View 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클릭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355000" y="3270446"/>
            <a:ext cx="2278520" cy="302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7399088" y="3622384"/>
            <a:ext cx="174919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④ 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검색창에 </a:t>
            </a:r>
            <a:r>
              <a:rPr lang="en-US" altLang="ko-KR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0x19B7 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입력 후 </a:t>
            </a:r>
            <a:endParaRPr lang="en-US" altLang="ko-KR" sz="1000" b="1" dirty="0" smtClean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[0x19B7] UIM APDU 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체크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783790" y="6326790"/>
            <a:ext cx="458233" cy="1436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7689304" y="6289841"/>
            <a:ext cx="1016625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⑤</a:t>
            </a:r>
            <a:r>
              <a:rPr lang="en-US" altLang="ko-KR" sz="10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OK </a:t>
            </a:r>
            <a:r>
              <a:rPr lang="ko-KR" altLang="en-US" sz="1000" b="1" dirty="0" smtClea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버튼 클릭</a:t>
            </a:r>
            <a:endParaRPr lang="en-US" altLang="ko-KR" sz="10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400975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(4)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QXDM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2/5] 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059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 smtClean="0"/>
              <a:t>3. </a:t>
            </a:r>
            <a:r>
              <a:rPr lang="en-US" altLang="ko-KR" sz="1200" b="1" dirty="0"/>
              <a:t>UIM APDU (0x19B7) </a:t>
            </a:r>
            <a:r>
              <a:rPr lang="ko-KR" altLang="en-US" sz="1200" b="1" dirty="0"/>
              <a:t>로그 복사하기</a:t>
            </a:r>
            <a:endParaRPr lang="en-US" altLang="ko-KR" sz="1200" b="1" dirty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</a:t>
            </a:r>
            <a:r>
              <a:rPr lang="en-US" altLang="ko-KR" sz="1200" dirty="0"/>
              <a:t>- Filter </a:t>
            </a:r>
            <a:r>
              <a:rPr lang="en-US" altLang="ko-KR" sz="1200" dirty="0" smtClean="0"/>
              <a:t>View </a:t>
            </a:r>
            <a:r>
              <a:rPr lang="ko-KR" altLang="en-US" sz="1200" dirty="0"/>
              <a:t>창에서 </a:t>
            </a:r>
            <a:r>
              <a:rPr lang="en-US" altLang="ko-KR" sz="1200" dirty="0"/>
              <a:t>“</a:t>
            </a:r>
            <a:r>
              <a:rPr lang="en-US" altLang="ko-KR" sz="1200" dirty="0" err="1"/>
              <a:t>Ctrl+A</a:t>
            </a:r>
            <a:r>
              <a:rPr lang="en-US" altLang="ko-KR" sz="1200" dirty="0"/>
              <a:t>” +</a:t>
            </a:r>
            <a:r>
              <a:rPr lang="ko-KR" altLang="en-US" sz="1200" dirty="0"/>
              <a:t> </a:t>
            </a:r>
            <a:r>
              <a:rPr lang="en-US" altLang="ko-KR" sz="1200" dirty="0"/>
              <a:t>“</a:t>
            </a:r>
            <a:r>
              <a:rPr lang="en-US" altLang="ko-KR" sz="1200" dirty="0" err="1"/>
              <a:t>Ctrl+C</a:t>
            </a:r>
            <a:r>
              <a:rPr lang="en-US" altLang="ko-KR" sz="1200" dirty="0"/>
              <a:t>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3BA194-13E1-4A96-9AD7-E4ACCAF3B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268760"/>
            <a:ext cx="5412924" cy="479715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C3BF752-FADB-4A76-82F3-9B7B31419525}"/>
              </a:ext>
            </a:extLst>
          </p:cNvPr>
          <p:cNvSpPr/>
          <p:nvPr/>
        </p:nvSpPr>
        <p:spPr>
          <a:xfrm flipH="1" flipV="1">
            <a:off x="2847990" y="4027045"/>
            <a:ext cx="1656184" cy="1269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0DBCD-D739-4A0F-8062-4A65117C2471}"/>
              </a:ext>
            </a:extLst>
          </p:cNvPr>
          <p:cNvSpPr txBox="1"/>
          <p:nvPr/>
        </p:nvSpPr>
        <p:spPr>
          <a:xfrm>
            <a:off x="5889104" y="3988286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① Filter</a:t>
            </a:r>
            <a:r>
              <a:rPr lang="ko-KR" altLang="en-US" dirty="0"/>
              <a:t> </a:t>
            </a:r>
            <a:r>
              <a:rPr lang="en-US" altLang="ko-KR" dirty="0"/>
              <a:t>View:[2]</a:t>
            </a:r>
            <a:r>
              <a:rPr lang="ko-KR" altLang="en-US" dirty="0"/>
              <a:t> </a:t>
            </a:r>
            <a:r>
              <a:rPr lang="ko-KR" altLang="en-US" dirty="0" err="1"/>
              <a:t>우클릭</a:t>
            </a:r>
            <a:r>
              <a:rPr lang="ko-KR" altLang="en-US" dirty="0"/>
              <a:t> 후 </a:t>
            </a:r>
            <a:r>
              <a:rPr lang="en-US" altLang="ko-KR" dirty="0"/>
              <a:t>Select All </a:t>
            </a:r>
            <a:r>
              <a:rPr lang="ko-KR" altLang="en-US" dirty="0"/>
              <a:t>선택 </a:t>
            </a:r>
            <a:r>
              <a:rPr lang="en-US" altLang="ko-KR" dirty="0"/>
              <a:t>(</a:t>
            </a:r>
            <a:r>
              <a:rPr lang="en-US" altLang="ko-KR" dirty="0" err="1"/>
              <a:t>Ctrl+A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85523E-2B96-4E84-AE98-DBF4531CA440}"/>
              </a:ext>
            </a:extLst>
          </p:cNvPr>
          <p:cNvSpPr txBox="1"/>
          <p:nvPr/>
        </p:nvSpPr>
        <p:spPr>
          <a:xfrm>
            <a:off x="5889104" y="3574818"/>
            <a:ext cx="38164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② Filter</a:t>
            </a:r>
            <a:r>
              <a:rPr lang="ko-KR" altLang="en-US" dirty="0"/>
              <a:t> </a:t>
            </a:r>
            <a:r>
              <a:rPr lang="en-US" altLang="ko-KR" dirty="0"/>
              <a:t>View:[2]</a:t>
            </a:r>
            <a:r>
              <a:rPr lang="ko-KR" altLang="en-US" dirty="0"/>
              <a:t> </a:t>
            </a:r>
            <a:r>
              <a:rPr lang="ko-KR" altLang="en-US" dirty="0" err="1"/>
              <a:t>우클릭</a:t>
            </a:r>
            <a:r>
              <a:rPr lang="ko-KR" altLang="en-US" dirty="0"/>
              <a:t> 후 </a:t>
            </a:r>
            <a:r>
              <a:rPr lang="en-US" altLang="ko-KR" dirty="0"/>
              <a:t>Copy Text To Clipboard </a:t>
            </a:r>
            <a:r>
              <a:rPr lang="ko-KR" altLang="en-US" dirty="0"/>
              <a:t>선택 </a:t>
            </a:r>
            <a:r>
              <a:rPr lang="en-US" altLang="ko-KR" dirty="0"/>
              <a:t>(</a:t>
            </a:r>
            <a:r>
              <a:rPr lang="en-US" altLang="ko-KR" dirty="0" err="1"/>
              <a:t>Ctrl+C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115AB3-8BC9-4036-9A8E-AAD96C3766FD}"/>
              </a:ext>
            </a:extLst>
          </p:cNvPr>
          <p:cNvSpPr/>
          <p:nvPr/>
        </p:nvSpPr>
        <p:spPr>
          <a:xfrm flipH="1" flipV="1">
            <a:off x="2847990" y="3658273"/>
            <a:ext cx="1656184" cy="1269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208D49D-449F-4FBC-8B79-879DE5A6F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532" y="2207506"/>
            <a:ext cx="3116159" cy="1222890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905031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(4)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QXDM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3/5] 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624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365A76A-3B83-40B6-A939-1D5E8BDD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54" y="4712618"/>
            <a:ext cx="4188598" cy="73260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3872BA15-129A-45CC-B982-310BEC2E6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54" y="3759025"/>
            <a:ext cx="4229800" cy="7519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53B5768-232F-496B-9245-BC1A0BBAE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26" y="2564904"/>
            <a:ext cx="4032448" cy="6537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4. QXDM-SIM-APDU-Analyzer </a:t>
            </a:r>
            <a:r>
              <a:rPr lang="ko-KR" altLang="en-US" sz="1200" b="1" dirty="0"/>
              <a:t>실행 후 </a:t>
            </a:r>
            <a:r>
              <a:rPr lang="en-US" altLang="ko-KR" sz="1200" b="1" dirty="0"/>
              <a:t>“Clipboard” </a:t>
            </a:r>
            <a:r>
              <a:rPr lang="ko-KR" altLang="en-US" sz="1200" b="1" dirty="0"/>
              <a:t>버튼 클릭하여 클립보드에 복사된 로그 불러오기</a:t>
            </a:r>
            <a:endParaRPr lang="en-US" altLang="ko-KR" sz="12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19A02E0-FA7E-4DEF-AD17-5B010788E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25" y="980728"/>
            <a:ext cx="2570777" cy="756543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353B1A-8BB9-403B-978B-781E2D25A2F3}"/>
              </a:ext>
            </a:extLst>
          </p:cNvPr>
          <p:cNvSpPr/>
          <p:nvPr/>
        </p:nvSpPr>
        <p:spPr>
          <a:xfrm flipH="1" flipV="1">
            <a:off x="1742037" y="1218252"/>
            <a:ext cx="886672" cy="1831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79E25F-1000-4980-8A0A-25A8FC74D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925" y="1708415"/>
            <a:ext cx="3995723" cy="7124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6582F9-34B4-4804-BF69-8B295B937655}"/>
              </a:ext>
            </a:extLst>
          </p:cNvPr>
          <p:cNvSpPr txBox="1"/>
          <p:nvPr/>
        </p:nvSpPr>
        <p:spPr>
          <a:xfrm>
            <a:off x="3147749" y="1772816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클립보드에 </a:t>
            </a:r>
            <a:r>
              <a:rPr lang="en-US" altLang="ko-KR" dirty="0"/>
              <a:t>APDU log </a:t>
            </a:r>
            <a:r>
              <a:rPr lang="ko-KR" altLang="en-US" dirty="0"/>
              <a:t>정상적으로 포함되어 있는지 표시됨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BA4377-A33D-4AA7-A243-A45BED499264}"/>
              </a:ext>
            </a:extLst>
          </p:cNvPr>
          <p:cNvSpPr txBox="1"/>
          <p:nvPr/>
        </p:nvSpPr>
        <p:spPr>
          <a:xfrm>
            <a:off x="3168168" y="2666594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클립보드에 </a:t>
            </a:r>
            <a:r>
              <a:rPr lang="en-US" altLang="ko-KR" dirty="0"/>
              <a:t>APDU </a:t>
            </a:r>
            <a:r>
              <a:rPr lang="ko-KR" altLang="en-US" dirty="0"/>
              <a:t>로그가 복사되지 않은 경우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F8745-5E33-4129-9633-F263DFAF2F4D}"/>
              </a:ext>
            </a:extLst>
          </p:cNvPr>
          <p:cNvSpPr txBox="1"/>
          <p:nvPr/>
        </p:nvSpPr>
        <p:spPr>
          <a:xfrm>
            <a:off x="907186" y="1772816"/>
            <a:ext cx="20673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불러오기 완료되면 버튼 비활성화됨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5BDEB5-1725-4478-AD69-87828FE01865}"/>
              </a:ext>
            </a:extLst>
          </p:cNvPr>
          <p:cNvSpPr txBox="1"/>
          <p:nvPr/>
        </p:nvSpPr>
        <p:spPr>
          <a:xfrm>
            <a:off x="272480" y="3356992"/>
            <a:ext cx="771466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5. SIM1,2 </a:t>
            </a:r>
            <a:r>
              <a:rPr lang="ko-KR" altLang="en-US" sz="1200" b="1" dirty="0"/>
              <a:t>선택 후 </a:t>
            </a:r>
            <a:r>
              <a:rPr lang="en-US" altLang="ko-KR" sz="1200" b="1" dirty="0"/>
              <a:t>“Execute” </a:t>
            </a:r>
            <a:r>
              <a:rPr lang="ko-KR" altLang="en-US" sz="1200" b="1" dirty="0"/>
              <a:t>버튼 클릭</a:t>
            </a:r>
            <a:endParaRPr lang="en-US" altLang="ko-KR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F34A6B-D0C1-4DB6-B436-6C29F22881A2}"/>
              </a:ext>
            </a:extLst>
          </p:cNvPr>
          <p:cNvSpPr/>
          <p:nvPr/>
        </p:nvSpPr>
        <p:spPr>
          <a:xfrm flipH="1" flipV="1">
            <a:off x="1787850" y="4241632"/>
            <a:ext cx="932236" cy="2044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1A836F-C44E-42D3-96DE-FC6D73FC591F}"/>
              </a:ext>
            </a:extLst>
          </p:cNvPr>
          <p:cNvSpPr txBox="1"/>
          <p:nvPr/>
        </p:nvSpPr>
        <p:spPr>
          <a:xfrm>
            <a:off x="1787850" y="5378495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“Execute” </a:t>
            </a:r>
            <a:r>
              <a:rPr lang="ko-KR" altLang="en-US" dirty="0"/>
              <a:t>버튼 비활성화되고</a:t>
            </a:r>
            <a:r>
              <a:rPr lang="en-US" altLang="ko-KR" dirty="0"/>
              <a:t>, </a:t>
            </a:r>
            <a:r>
              <a:rPr lang="ko-KR" altLang="en-US" dirty="0"/>
              <a:t>결과 메시지 출력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AD2484-8078-472C-849D-0C32FC5E99D2}"/>
              </a:ext>
            </a:extLst>
          </p:cNvPr>
          <p:cNvSpPr txBox="1"/>
          <p:nvPr/>
        </p:nvSpPr>
        <p:spPr>
          <a:xfrm>
            <a:off x="1815019" y="6356142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SIM1,2 </a:t>
            </a:r>
            <a:r>
              <a:rPr lang="ko-KR" altLang="en-US" dirty="0"/>
              <a:t>변경 시 </a:t>
            </a:r>
            <a:r>
              <a:rPr lang="en-US" altLang="ko-KR" dirty="0"/>
              <a:t>“Execute” </a:t>
            </a:r>
            <a:r>
              <a:rPr lang="ko-KR" altLang="en-US" dirty="0"/>
              <a:t>버튼 다시 활성화됨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9B0E9F-1B9D-4A45-8028-4E0AC31B258A}"/>
              </a:ext>
            </a:extLst>
          </p:cNvPr>
          <p:cNvSpPr txBox="1"/>
          <p:nvPr/>
        </p:nvSpPr>
        <p:spPr>
          <a:xfrm>
            <a:off x="1741983" y="4451119"/>
            <a:ext cx="34410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SIM1,2 </a:t>
            </a:r>
            <a:r>
              <a:rPr lang="ko-KR" altLang="en-US" dirty="0"/>
              <a:t>선택 후 </a:t>
            </a:r>
            <a:r>
              <a:rPr lang="en-US" altLang="ko-KR" dirty="0"/>
              <a:t>“Execute” </a:t>
            </a:r>
            <a:r>
              <a:rPr lang="ko-KR" altLang="en-US" dirty="0"/>
              <a:t>버튼 클릭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ECCF08D-639B-4289-99D5-56AA36B7BB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162" y="5649114"/>
            <a:ext cx="4306375" cy="765406"/>
          </a:xfrm>
          <a:prstGeom prst="rect">
            <a:avLst/>
          </a:prstGeom>
        </p:spPr>
      </p:pic>
      <p:sp>
        <p:nvSpPr>
          <p:cNvPr id="22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380556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(4)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QXDM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4/5] 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422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6. </a:t>
            </a:r>
            <a:r>
              <a:rPr lang="ko-KR" altLang="en-US" sz="1200" b="1" dirty="0"/>
              <a:t>결과 화면</a:t>
            </a: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003350"/>
            <a:ext cx="7200806" cy="5522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BA4377-A33D-4AA7-A243-A45BED499264}"/>
              </a:ext>
            </a:extLst>
          </p:cNvPr>
          <p:cNvSpPr txBox="1"/>
          <p:nvPr/>
        </p:nvSpPr>
        <p:spPr>
          <a:xfrm>
            <a:off x="1208587" y="665320"/>
            <a:ext cx="56166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 smtClean="0"/>
              <a:t>클립보드 복사한 </a:t>
            </a:r>
            <a:r>
              <a:rPr lang="ko-KR" altLang="en-US" dirty="0" smtClean="0"/>
              <a:t>로그는 텍스트 파일</a:t>
            </a:r>
            <a:r>
              <a:rPr lang="en-US" altLang="ko-KR" dirty="0" smtClean="0"/>
              <a:t>(*.txt)</a:t>
            </a:r>
            <a:r>
              <a:rPr lang="ko-KR" altLang="en-US" dirty="0" smtClean="0"/>
              <a:t>로 저장 시 </a:t>
            </a:r>
            <a:r>
              <a:rPr lang="ko-KR" altLang="en-US" dirty="0" smtClean="0"/>
              <a:t>나중에 </a:t>
            </a:r>
            <a:r>
              <a:rPr lang="en-US" altLang="ko-KR" u="sng" dirty="0" smtClean="0"/>
              <a:t>“Open File”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기능으로 다시 불러올 수 있음</a:t>
            </a:r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761015" cy="49006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(4) 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QXDM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5/5] </a:t>
            </a:r>
            <a:endParaRPr lang="ko-KR" altLang="en-US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562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8129167" cy="490067"/>
          </a:xfrm>
        </p:spPr>
        <p:txBody>
          <a:bodyPr/>
          <a:lstStyle/>
          <a:p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(5) </a:t>
            </a:r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Shannon DM </a:t>
            </a:r>
            <a:r>
              <a:rPr lang="ko-KR" altLang="en-US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[1/6</a:t>
            </a:r>
            <a:r>
              <a:rPr lang="en-US" altLang="ko-KR" sz="1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15894" y="1436945"/>
            <a:ext cx="9397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 smtClean="0"/>
              <a:t>2. Shannon DM </a:t>
            </a:r>
            <a:r>
              <a:rPr lang="ko-KR" altLang="en-US" sz="1200" b="1" dirty="0"/>
              <a:t>에서 단말 </a:t>
            </a:r>
            <a:r>
              <a:rPr lang="en-US" altLang="ko-KR" sz="1200" b="1" dirty="0"/>
              <a:t>CP </a:t>
            </a:r>
            <a:r>
              <a:rPr lang="ko-KR" altLang="en-US" sz="1200" b="1" dirty="0"/>
              <a:t>로그 </a:t>
            </a:r>
            <a:r>
              <a:rPr lang="ko-KR" altLang="en-US" sz="1200" b="1" dirty="0" smtClean="0"/>
              <a:t>열기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en-US" altLang="ko-KR" sz="1200" dirty="0" smtClean="0"/>
              <a:t> File </a:t>
            </a:r>
            <a:r>
              <a:rPr lang="ko-KR" altLang="en-US" sz="1200" dirty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Open</a:t>
            </a:r>
            <a:r>
              <a:rPr lang="en-US" altLang="ko-KR" sz="1200" dirty="0" smtClean="0"/>
              <a:t>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ko-KR" altLang="en-US" sz="1200" b="1" u="sng" dirty="0" smtClean="0">
                <a:sym typeface="Wingdings" panose="05000000000000000000" pitchFamily="2" charset="2"/>
              </a:rPr>
              <a:t>로그 파일 </a:t>
            </a:r>
            <a:r>
              <a:rPr lang="en-US" altLang="ko-KR" sz="1200" b="1" u="sng" dirty="0" smtClean="0">
                <a:sym typeface="Wingdings" panose="05000000000000000000" pitchFamily="2" charset="2"/>
              </a:rPr>
              <a:t>(*.</a:t>
            </a:r>
            <a:r>
              <a:rPr lang="en-US" altLang="ko-KR" sz="1200" b="1" u="sng" dirty="0" err="1" smtClean="0">
                <a:sym typeface="Wingdings" panose="05000000000000000000" pitchFamily="2" charset="2"/>
              </a:rPr>
              <a:t>sdm</a:t>
            </a:r>
            <a:r>
              <a:rPr lang="en-US" altLang="ko-KR" sz="1200" b="1" u="sng" dirty="0" smtClean="0">
                <a:sym typeface="Wingdings" panose="05000000000000000000" pitchFamily="2" charset="2"/>
              </a:rPr>
              <a:t>)</a:t>
            </a:r>
            <a:r>
              <a:rPr lang="en-US" altLang="ko-KR" sz="1200" dirty="0" smtClean="0"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sym typeface="Wingdings" panose="05000000000000000000" pitchFamily="2" charset="2"/>
              </a:rPr>
              <a:t>불러오기 </a:t>
            </a:r>
            <a:r>
              <a:rPr lang="en-US" altLang="ko-KR" sz="1200" dirty="0" smtClean="0"/>
              <a:t> (</a:t>
            </a:r>
            <a:r>
              <a:rPr lang="ko-KR" altLang="en-US" sz="1200" dirty="0" smtClean="0"/>
              <a:t>복수 로그 파일의 경우 </a:t>
            </a:r>
            <a:r>
              <a:rPr lang="ko-KR" altLang="en-US" sz="1200" b="1" u="sng" dirty="0" smtClean="0"/>
              <a:t>시간 </a:t>
            </a:r>
            <a:r>
              <a:rPr lang="ko-KR" altLang="en-US" sz="1200" b="1" u="sng" dirty="0"/>
              <a:t>순 정렬</a:t>
            </a:r>
            <a:r>
              <a:rPr lang="ko-KR" altLang="en-US" sz="1200" dirty="0"/>
              <a:t> 필수 </a:t>
            </a:r>
            <a:r>
              <a:rPr lang="ko-KR" altLang="en-US" sz="1200" dirty="0" smtClean="0"/>
              <a:t>확인</a:t>
            </a:r>
            <a:r>
              <a:rPr lang="en-US" altLang="ko-KR" sz="1200" dirty="0" smtClean="0"/>
              <a:t>, Reset </a:t>
            </a:r>
            <a:r>
              <a:rPr lang="en-US" altLang="ko-KR" sz="1200" dirty="0"/>
              <a:t>Order </a:t>
            </a:r>
            <a:r>
              <a:rPr lang="ko-KR" altLang="en-US" sz="1200" dirty="0"/>
              <a:t>클릭 후 </a:t>
            </a:r>
            <a:r>
              <a:rPr lang="en-US" altLang="ko-KR" sz="1200" dirty="0"/>
              <a:t>Confirm </a:t>
            </a:r>
            <a:r>
              <a:rPr lang="ko-KR" altLang="en-US" sz="1200" dirty="0"/>
              <a:t>클릭</a:t>
            </a:r>
            <a:r>
              <a:rPr lang="en-US" altLang="ko-KR" sz="1200" dirty="0" smtClean="0"/>
              <a:t>)</a:t>
            </a:r>
            <a:br>
              <a:rPr lang="en-US" altLang="ko-KR" sz="1200" dirty="0" smtClean="0"/>
            </a:br>
            <a:r>
              <a:rPr lang="en-US" altLang="ko-KR" sz="1200" dirty="0" smtClean="0"/>
              <a:t>  ※ </a:t>
            </a:r>
            <a:r>
              <a:rPr lang="ko-KR" altLang="en-US" sz="1200" dirty="0"/>
              <a:t>단말 제조사 별 </a:t>
            </a:r>
            <a:r>
              <a:rPr lang="en-US" altLang="ko-KR" sz="1200" dirty="0"/>
              <a:t>CP </a:t>
            </a:r>
            <a:r>
              <a:rPr lang="ko-KR" altLang="en-US" sz="1200" dirty="0"/>
              <a:t>로그 확보 방법은</a:t>
            </a:r>
            <a:r>
              <a:rPr lang="en-US" altLang="ko-KR" sz="1200" dirty="0"/>
              <a:t> </a:t>
            </a:r>
            <a:r>
              <a:rPr lang="ko-KR" altLang="en-US" sz="1200" dirty="0"/>
              <a:t>각 제조사 </a:t>
            </a:r>
            <a:r>
              <a:rPr lang="en-US" altLang="ko-KR" sz="1200" dirty="0"/>
              <a:t>PM </a:t>
            </a:r>
            <a:r>
              <a:rPr lang="ko-KR" altLang="en-US" sz="1200" dirty="0"/>
              <a:t>통해 확인 </a:t>
            </a:r>
            <a:r>
              <a:rPr lang="en-US" altLang="ko-KR" sz="1200" dirty="0"/>
              <a:t>(</a:t>
            </a:r>
            <a:r>
              <a:rPr lang="ko-KR" altLang="en-US" sz="1200" dirty="0"/>
              <a:t>삼성 </a:t>
            </a:r>
            <a:r>
              <a:rPr lang="en-US" altLang="ko-KR" sz="1200" dirty="0"/>
              <a:t>silent log </a:t>
            </a:r>
            <a:r>
              <a:rPr lang="en-US" altLang="ko-KR" sz="1200" dirty="0" smtClean="0"/>
              <a:t>dump)</a:t>
            </a:r>
            <a:endParaRPr lang="en-US" altLang="ko-KR" sz="12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26" y="2386922"/>
            <a:ext cx="2203715" cy="210978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6" y="3789039"/>
            <a:ext cx="4858356" cy="273732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088" y="3789040"/>
            <a:ext cx="3868086" cy="2737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41502" y="692696"/>
            <a:ext cx="771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 smtClean="0"/>
              <a:t>1. Shannon DM </a:t>
            </a:r>
            <a:r>
              <a:rPr lang="en-US" altLang="ko-KR" sz="1200" b="1" dirty="0" smtClean="0"/>
              <a:t>License</a:t>
            </a:r>
            <a:r>
              <a:rPr lang="ko-KR" altLang="en-US" sz="1200" b="1" dirty="0" smtClean="0"/>
              <a:t> 권한 업데이트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en-US" altLang="ko-KR" sz="1200" dirty="0" smtClean="0"/>
              <a:t>  </a:t>
            </a:r>
            <a:r>
              <a:rPr lang="en-US" altLang="ko-KR" sz="1200" dirty="0" smtClean="0"/>
              <a:t>APDU </a:t>
            </a:r>
            <a:r>
              <a:rPr lang="ko-KR" altLang="en-US" sz="1200" dirty="0" smtClean="0"/>
              <a:t>로그 분석을 위해선 </a:t>
            </a:r>
            <a:r>
              <a:rPr lang="en-US" altLang="ko-KR" sz="1200" dirty="0" smtClean="0"/>
              <a:t>DM</a:t>
            </a:r>
            <a:r>
              <a:rPr lang="ko-KR" altLang="en-US" sz="1200" dirty="0" smtClean="0"/>
              <a:t> 권한 업데이트 필요 </a:t>
            </a:r>
            <a:r>
              <a:rPr lang="en-US" altLang="ko-KR" sz="1200" dirty="0" smtClean="0"/>
              <a:t>※ </a:t>
            </a:r>
            <a:r>
              <a:rPr lang="en-US" altLang="ko-KR" sz="1200" dirty="0" smtClean="0"/>
              <a:t>License</a:t>
            </a:r>
            <a:r>
              <a:rPr lang="ko-KR" altLang="en-US" sz="1200" dirty="0" smtClean="0"/>
              <a:t> 관련 사항은 별도 공유</a:t>
            </a:r>
            <a:endParaRPr lang="en-US" altLang="ko-KR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8409384" y="4450031"/>
            <a:ext cx="129614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BA4377-A33D-4AA7-A243-A45BED499264}"/>
              </a:ext>
            </a:extLst>
          </p:cNvPr>
          <p:cNvSpPr txBox="1"/>
          <p:nvPr/>
        </p:nvSpPr>
        <p:spPr>
          <a:xfrm>
            <a:off x="8420590" y="5026095"/>
            <a:ext cx="12849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 smtClean="0"/>
              <a:t>로그 시간 순서 확인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76720" y="2732598"/>
            <a:ext cx="1368152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01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8712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3. </a:t>
            </a:r>
            <a:r>
              <a:rPr lang="en-US" altLang="ko-KR" sz="1200" b="1" dirty="0" smtClean="0"/>
              <a:t>CP </a:t>
            </a:r>
            <a:r>
              <a:rPr lang="ko-KR" altLang="en-US" sz="1200" b="1" dirty="0" smtClean="0"/>
              <a:t>바이너리 매칭</a:t>
            </a:r>
            <a:endParaRPr lang="en-US" altLang="ko-KR" sz="1200" b="1" dirty="0" smtClean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</a:t>
            </a:r>
            <a:r>
              <a:rPr lang="en-US" altLang="ko-KR" sz="1200" dirty="0" smtClean="0"/>
              <a:t> Tool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Edit Preference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“Message – String – Trace”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 Binary Images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Load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en-US" altLang="ko-KR" sz="1200" b="1" u="sng" dirty="0" smtClean="0">
                <a:sym typeface="Wingdings" panose="05000000000000000000" pitchFamily="2" charset="2"/>
              </a:rPr>
              <a:t>CP </a:t>
            </a:r>
            <a:r>
              <a:rPr lang="ko-KR" altLang="en-US" sz="1200" b="1" u="sng" dirty="0" smtClean="0">
                <a:sym typeface="Wingdings" panose="05000000000000000000" pitchFamily="2" charset="2"/>
              </a:rPr>
              <a:t>바이너리</a:t>
            </a:r>
            <a:r>
              <a:rPr lang="en-US" altLang="ko-KR" sz="1200" b="1" u="sng" dirty="0" smtClean="0">
                <a:sym typeface="Wingdings" panose="05000000000000000000" pitchFamily="2" charset="2"/>
              </a:rPr>
              <a:t>(*.md5)</a:t>
            </a:r>
            <a:r>
              <a:rPr lang="ko-KR" altLang="en-US" sz="1200" b="1" dirty="0" smtClean="0"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sym typeface="Wingdings" panose="05000000000000000000" pitchFamily="2" charset="2"/>
              </a:rPr>
              <a:t>불러오기 → </a:t>
            </a:r>
            <a:r>
              <a:rPr lang="en-US" altLang="ko-KR" sz="1200" dirty="0" smtClean="0">
                <a:sym typeface="Wingdings" panose="05000000000000000000" pitchFamily="2" charset="2"/>
              </a:rPr>
              <a:t>Apply</a:t>
            </a:r>
            <a:r>
              <a:rPr lang="ko-KR" altLang="en-US" sz="1200" dirty="0" smtClean="0">
                <a:sym typeface="Wingdings" panose="05000000000000000000" pitchFamily="2" charset="2"/>
              </a:rPr>
              <a:t> </a:t>
            </a:r>
            <a:endParaRPr lang="en-US" altLang="ko-KR" sz="1200" dirty="0"/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5752903" cy="490067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(5) Shannon 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[2/6</a:t>
            </a:r>
            <a:r>
              <a:rPr lang="en-US" altLang="ko-KR" sz="1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896" y="1606625"/>
            <a:ext cx="4464496" cy="47199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BA4377-A33D-4AA7-A243-A45BED499264}"/>
              </a:ext>
            </a:extLst>
          </p:cNvPr>
          <p:cNvSpPr txBox="1"/>
          <p:nvPr/>
        </p:nvSpPr>
        <p:spPr>
          <a:xfrm>
            <a:off x="6003842" y="1131606"/>
            <a:ext cx="288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 smtClean="0"/>
              <a:t>(</a:t>
            </a:r>
            <a:r>
              <a:rPr lang="ko-KR" altLang="en-US" dirty="0" smtClean="0"/>
              <a:t>필수</a:t>
            </a:r>
            <a:r>
              <a:rPr lang="en-US" altLang="ko-KR" dirty="0" smtClean="0"/>
              <a:t>) </a:t>
            </a:r>
            <a:r>
              <a:rPr lang="ko-KR" altLang="en-US" dirty="0" smtClean="0"/>
              <a:t>단말에 현재 적용된 </a:t>
            </a:r>
            <a:r>
              <a:rPr lang="en-US" altLang="ko-KR" dirty="0" smtClean="0"/>
              <a:t>CP </a:t>
            </a:r>
            <a:r>
              <a:rPr lang="ko-KR" altLang="en-US" dirty="0" smtClean="0"/>
              <a:t>바이너리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1628800"/>
            <a:ext cx="3285095" cy="1962793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2191058" y="1908286"/>
            <a:ext cx="216024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00" y="3782584"/>
            <a:ext cx="3304091" cy="1734648"/>
          </a:xfrm>
          <a:prstGeom prst="rect">
            <a:avLst/>
          </a:prstGeom>
        </p:spPr>
      </p:pic>
      <p:sp>
        <p:nvSpPr>
          <p:cNvPr id="32" name="직사각형 31"/>
          <p:cNvSpPr/>
          <p:nvPr/>
        </p:nvSpPr>
        <p:spPr>
          <a:xfrm>
            <a:off x="1776102" y="5085184"/>
            <a:ext cx="1368152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7344071" y="3513427"/>
            <a:ext cx="371336" cy="1908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7905718" y="5870607"/>
            <a:ext cx="458348" cy="1870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17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4</a:t>
            </a:r>
            <a:r>
              <a:rPr lang="en-US" altLang="ko-KR" sz="1200" b="1" dirty="0" smtClean="0"/>
              <a:t>. Edit Profile </a:t>
            </a:r>
            <a:r>
              <a:rPr lang="ko-KR" altLang="en-US" sz="1200" b="1" dirty="0" smtClean="0"/>
              <a:t>적용</a:t>
            </a:r>
            <a:endParaRPr lang="en-US" altLang="ko-KR" sz="1200" b="1" dirty="0" smtClean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 </a:t>
            </a:r>
            <a:r>
              <a:rPr lang="en-US" altLang="ko-KR" sz="1200" b="1" dirty="0" smtClean="0"/>
              <a:t> </a:t>
            </a:r>
            <a:r>
              <a:rPr lang="en-US" altLang="ko-KR" sz="1200" dirty="0"/>
              <a:t>Tool </a:t>
            </a:r>
            <a:r>
              <a:rPr lang="ko-KR" altLang="en-US" sz="1200" dirty="0">
                <a:sym typeface="Wingdings" panose="05000000000000000000" pitchFamily="2" charset="2"/>
              </a:rPr>
              <a:t>→ </a:t>
            </a:r>
            <a:r>
              <a:rPr lang="en-US" altLang="ko-KR" sz="1200" dirty="0">
                <a:sym typeface="Wingdings" panose="05000000000000000000" pitchFamily="2" charset="2"/>
              </a:rPr>
              <a:t>Edit </a:t>
            </a:r>
            <a:r>
              <a:rPr lang="en-US" altLang="ko-KR" sz="1200" dirty="0" smtClean="0">
                <a:sym typeface="Wingdings" panose="05000000000000000000" pitchFamily="2" charset="2"/>
              </a:rPr>
              <a:t>Profile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Trace Message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USIM_MAIN </a:t>
            </a:r>
            <a:r>
              <a:rPr lang="ko-KR" altLang="en-US" sz="1200" dirty="0" smtClean="0">
                <a:sym typeface="Wingdings" panose="05000000000000000000" pitchFamily="2" charset="2"/>
              </a:rPr>
              <a:t>→ </a:t>
            </a:r>
            <a:r>
              <a:rPr lang="en-US" altLang="ko-KR" sz="1200" i="1" dirty="0" smtClean="0">
                <a:sym typeface="Wingdings" panose="05000000000000000000" pitchFamily="2" charset="2"/>
              </a:rPr>
              <a:t>‘TraceFlow’, ‘TraceModule’, ‘DumpPrivacy’  </a:t>
            </a:r>
            <a:r>
              <a:rPr lang="ko-KR" altLang="en-US" sz="1200" dirty="0" smtClean="0">
                <a:sym typeface="Wingdings" panose="05000000000000000000" pitchFamily="2" charset="2"/>
              </a:rPr>
              <a:t>체크</a:t>
            </a:r>
            <a:r>
              <a:rPr lang="en-US" altLang="ko-KR" sz="1200" dirty="0" smtClean="0">
                <a:sym typeface="Wingdings" panose="05000000000000000000" pitchFamily="2" charset="2"/>
              </a:rPr>
              <a:t>  </a:t>
            </a:r>
            <a:endParaRPr lang="en-US" altLang="ko-KR" sz="1200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396058" cy="490067"/>
          </a:xfrm>
        </p:spPr>
        <p:txBody>
          <a:bodyPr/>
          <a:lstStyle/>
          <a:p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(5) Shannon 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[3/6</a:t>
            </a:r>
            <a:r>
              <a:rPr lang="en-US" altLang="ko-KR" sz="1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7339" r="-646"/>
          <a:stretch/>
        </p:blipFill>
        <p:spPr>
          <a:xfrm>
            <a:off x="560512" y="1682616"/>
            <a:ext cx="1728192" cy="181839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15428" y="3245735"/>
            <a:ext cx="1584176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736" y="1687785"/>
            <a:ext cx="6096000" cy="49815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CC1C85-EACC-4946-ACA9-6C263BDE643F}"/>
              </a:ext>
            </a:extLst>
          </p:cNvPr>
          <p:cNvSpPr txBox="1"/>
          <p:nvPr/>
        </p:nvSpPr>
        <p:spPr>
          <a:xfrm>
            <a:off x="4237837" y="1141836"/>
            <a:ext cx="37394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 smtClean="0"/>
              <a:t>※ </a:t>
            </a:r>
            <a:r>
              <a:rPr lang="en-US" altLang="ko-KR" dirty="0" smtClean="0">
                <a:sym typeface="Wingdings" panose="05000000000000000000" pitchFamily="2" charset="2"/>
              </a:rPr>
              <a:t>APDU </a:t>
            </a:r>
            <a:r>
              <a:rPr lang="ko-KR" altLang="en-US" dirty="0" smtClean="0">
                <a:sym typeface="Wingdings" panose="05000000000000000000" pitchFamily="2" charset="2"/>
              </a:rPr>
              <a:t>분석에 필요한 최소 항목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→ </a:t>
            </a:r>
            <a:r>
              <a:rPr lang="ko-KR" altLang="en-US" dirty="0" smtClean="0"/>
              <a:t>아이템 </a:t>
            </a:r>
            <a:r>
              <a:rPr lang="ko-KR" altLang="en-US" dirty="0"/>
              <a:t>선택이 많아질수록 </a:t>
            </a:r>
            <a:r>
              <a:rPr lang="en-US" altLang="ko-KR" dirty="0"/>
              <a:t>Trace </a:t>
            </a:r>
            <a:r>
              <a:rPr lang="ko-KR" altLang="en-US" dirty="0"/>
              <a:t>창 로드 심해지는 현상 있음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9393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 smtClean="0"/>
              <a:t>5. Trace </a:t>
            </a:r>
            <a:r>
              <a:rPr lang="ko-KR" altLang="en-US" sz="1200" b="1" dirty="0" smtClean="0"/>
              <a:t>메시지 확인</a:t>
            </a:r>
            <a:endParaRPr lang="en-US" altLang="ko-KR" sz="1200" b="1" dirty="0" smtClean="0"/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</a:t>
            </a:r>
            <a:r>
              <a:rPr lang="en-US" altLang="ko-KR" sz="1200" b="1" dirty="0" smtClean="0"/>
              <a:t>  </a:t>
            </a:r>
            <a:r>
              <a:rPr lang="en-US" altLang="ko-KR" sz="1200" dirty="0" smtClean="0"/>
              <a:t>Message </a:t>
            </a:r>
            <a:r>
              <a:rPr lang="ko-KR" altLang="en-US" sz="1200" dirty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Trace </a:t>
            </a:r>
            <a:r>
              <a:rPr lang="ko-KR" altLang="en-US" sz="1200" dirty="0">
                <a:sym typeface="Wingdings" panose="05000000000000000000" pitchFamily="2" charset="2"/>
              </a:rPr>
              <a:t>→ </a:t>
            </a:r>
            <a:r>
              <a:rPr lang="en-US" altLang="ko-KR" sz="1200" dirty="0" smtClean="0">
                <a:sym typeface="Wingdings" panose="05000000000000000000" pitchFamily="2" charset="2"/>
              </a:rPr>
              <a:t>Trace Window </a:t>
            </a:r>
            <a:r>
              <a:rPr lang="ko-KR" altLang="en-US" sz="1200" dirty="0" smtClean="0">
                <a:sym typeface="Wingdings" panose="05000000000000000000" pitchFamily="2" charset="2"/>
              </a:rPr>
              <a:t>생성 및 </a:t>
            </a:r>
            <a:r>
              <a:rPr lang="en-US" altLang="ko-KR" sz="1200" dirty="0" smtClean="0">
                <a:sym typeface="Wingdings" panose="05000000000000000000" pitchFamily="2" charset="2"/>
              </a:rPr>
              <a:t>SIM APDU </a:t>
            </a:r>
            <a:r>
              <a:rPr lang="ko-KR" altLang="en-US" sz="1200" dirty="0" smtClean="0">
                <a:sym typeface="Wingdings" panose="05000000000000000000" pitchFamily="2" charset="2"/>
              </a:rPr>
              <a:t>로그 출력 확인 </a:t>
            </a:r>
            <a:r>
              <a:rPr lang="en-US" altLang="ko-KR" sz="1200" dirty="0" smtClean="0">
                <a:sym typeface="Wingdings" panose="05000000000000000000" pitchFamily="2" charset="2"/>
              </a:rPr>
              <a:t>(raw data)</a:t>
            </a:r>
            <a:endParaRPr lang="en-US" altLang="ko-KR" sz="12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241591" cy="490067"/>
          </a:xfrm>
        </p:spPr>
        <p:txBody>
          <a:bodyPr/>
          <a:lstStyle/>
          <a:p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(5) Shannon 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[4/6</a:t>
            </a:r>
            <a:r>
              <a:rPr lang="en-US" altLang="ko-KR" sz="1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2" y="1263831"/>
            <a:ext cx="9022116" cy="5337095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971444" y="1742367"/>
            <a:ext cx="936104" cy="1231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69508" y="1577501"/>
            <a:ext cx="422016" cy="1905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6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12" y="1340768"/>
            <a:ext cx="7068116" cy="5256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 smtClean="0"/>
              <a:t>6. </a:t>
            </a:r>
            <a:r>
              <a:rPr lang="en-US" altLang="ko-KR" sz="1200" b="1" dirty="0" smtClean="0"/>
              <a:t>Trace</a:t>
            </a:r>
            <a:r>
              <a:rPr lang="en-US" altLang="ko-KR" sz="1200" b="1" dirty="0" smtClean="0"/>
              <a:t> </a:t>
            </a:r>
            <a:r>
              <a:rPr lang="ko-KR" altLang="en-US" sz="1200" b="1" dirty="0" smtClean="0"/>
              <a:t>메시지 </a:t>
            </a:r>
            <a:r>
              <a:rPr lang="en-US" altLang="ko-KR" sz="1200" b="1" dirty="0" smtClean="0"/>
              <a:t>Export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/>
              <a:t> </a:t>
            </a:r>
            <a:r>
              <a:rPr lang="en-US" altLang="ko-KR" sz="1200" b="1" dirty="0" smtClean="0"/>
              <a:t>  </a:t>
            </a:r>
            <a:r>
              <a:rPr lang="en-US" altLang="ko-KR" sz="1200" dirty="0" smtClean="0">
                <a:sym typeface="Wingdings" panose="05000000000000000000" pitchFamily="2" charset="2"/>
              </a:rPr>
              <a:t>Trace </a:t>
            </a:r>
            <a:r>
              <a:rPr lang="ko-KR" altLang="en-US" sz="1200" dirty="0" smtClean="0">
                <a:sym typeface="Wingdings" panose="05000000000000000000" pitchFamily="2" charset="2"/>
              </a:rPr>
              <a:t>메시지 전체 선택</a:t>
            </a:r>
            <a:r>
              <a:rPr lang="en-US" altLang="ko-KR" sz="1200" dirty="0" smtClean="0">
                <a:sym typeface="Wingdings" panose="05000000000000000000" pitchFamily="2" charset="2"/>
              </a:rPr>
              <a:t>(</a:t>
            </a:r>
            <a:r>
              <a:rPr lang="en-US" altLang="ko-KR" sz="1200" dirty="0" err="1" smtClean="0">
                <a:sym typeface="Wingdings" panose="05000000000000000000" pitchFamily="2" charset="2"/>
              </a:rPr>
              <a:t>Ctrl+A</a:t>
            </a:r>
            <a:r>
              <a:rPr lang="en-US" altLang="ko-KR" sz="1200" dirty="0" smtClean="0"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sym typeface="Wingdings" panose="05000000000000000000" pitchFamily="2" charset="2"/>
              </a:rPr>
              <a:t>→</a:t>
            </a:r>
            <a:r>
              <a:rPr lang="ko-KR" altLang="en-US" sz="1200" dirty="0" smtClean="0">
                <a:sym typeface="Wingdings" panose="05000000000000000000" pitchFamily="2" charset="2"/>
              </a:rPr>
              <a:t> </a:t>
            </a:r>
            <a:r>
              <a:rPr lang="ko-KR" altLang="en-US" sz="1200" dirty="0" err="1" smtClean="0">
                <a:sym typeface="Wingdings" panose="05000000000000000000" pitchFamily="2" charset="2"/>
              </a:rPr>
              <a:t>우클릭</a:t>
            </a:r>
            <a:r>
              <a:rPr lang="ko-KR" altLang="en-US" sz="1200" dirty="0" smtClean="0">
                <a:sym typeface="Wingdings" panose="05000000000000000000" pitchFamily="2" charset="2"/>
              </a:rPr>
              <a:t> </a:t>
            </a:r>
            <a:r>
              <a:rPr lang="en-US" altLang="ko-KR" sz="1200" dirty="0" smtClean="0">
                <a:sym typeface="Wingdings" panose="05000000000000000000" pitchFamily="2" charset="2"/>
              </a:rPr>
              <a:t>Export </a:t>
            </a:r>
            <a:r>
              <a:rPr lang="ko-KR" altLang="en-US" sz="1200" dirty="0" smtClean="0">
                <a:sym typeface="Wingdings" panose="05000000000000000000" pitchFamily="2" charset="2"/>
              </a:rPr>
              <a:t>선택</a:t>
            </a:r>
            <a:r>
              <a:rPr lang="en-US" altLang="ko-KR" sz="1200" dirty="0" smtClean="0">
                <a:sym typeface="Wingdings" panose="05000000000000000000" pitchFamily="2" charset="2"/>
              </a:rPr>
              <a:t> </a:t>
            </a:r>
            <a:r>
              <a:rPr lang="ko-KR" altLang="en-US" sz="1200" dirty="0" smtClean="0">
                <a:sym typeface="Wingdings" panose="05000000000000000000" pitchFamily="2" charset="2"/>
              </a:rPr>
              <a:t>→ 파일 형식 텍스트 파일</a:t>
            </a:r>
            <a:r>
              <a:rPr lang="en-US" altLang="ko-KR" sz="1200" dirty="0" smtClean="0">
                <a:sym typeface="Wingdings" panose="05000000000000000000" pitchFamily="2" charset="2"/>
              </a:rPr>
              <a:t>(*.txt)</a:t>
            </a:r>
            <a:r>
              <a:rPr lang="ko-KR" altLang="en-US" sz="1200" dirty="0" smtClean="0">
                <a:sym typeface="Wingdings" panose="05000000000000000000" pitchFamily="2" charset="2"/>
              </a:rPr>
              <a:t>로 지정 후 저장 </a:t>
            </a:r>
            <a:endParaRPr lang="en-US" altLang="ko-KR" sz="12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241591" cy="490067"/>
          </a:xfrm>
        </p:spPr>
        <p:txBody>
          <a:bodyPr/>
          <a:lstStyle/>
          <a:p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(5) Shannon 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[5/6</a:t>
            </a:r>
            <a:r>
              <a:rPr lang="en-US" altLang="ko-KR" sz="1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]</a:t>
            </a:r>
            <a:endParaRPr lang="ko-KR" altLang="en-US" sz="160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402425" y="3313559"/>
            <a:ext cx="1047932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637" y="2852936"/>
            <a:ext cx="5655561" cy="3186484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573910" y="5527598"/>
            <a:ext cx="576064" cy="1697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40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C74BC3-153E-4794-8A80-C37A9985B81A}"/>
              </a:ext>
            </a:extLst>
          </p:cNvPr>
          <p:cNvSpPr txBox="1"/>
          <p:nvPr/>
        </p:nvSpPr>
        <p:spPr>
          <a:xfrm>
            <a:off x="272480" y="585260"/>
            <a:ext cx="771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9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b="1" dirty="0"/>
              <a:t>7</a:t>
            </a:r>
            <a:r>
              <a:rPr lang="en-US" altLang="ko-KR" sz="1200" b="1" dirty="0" smtClean="0"/>
              <a:t>. </a:t>
            </a:r>
            <a:r>
              <a:rPr lang="ko-KR" altLang="en-US" sz="1200" b="1" dirty="0" smtClean="0"/>
              <a:t>결과 화면</a:t>
            </a:r>
            <a:endParaRPr lang="en-US" altLang="ko-KR" sz="1200" b="1" dirty="0" smtClean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en-US" altLang="ko-KR" sz="1200" dirty="0" smtClean="0"/>
              <a:t>SIM APDU Analyzer (</a:t>
            </a:r>
            <a:r>
              <a:rPr lang="en-US" altLang="ko-KR" sz="1200" b="1" u="sng" dirty="0" smtClean="0"/>
              <a:t>v3.1 </a:t>
            </a:r>
            <a:r>
              <a:rPr lang="ko-KR" altLang="en-US" sz="1200" b="1" u="sng" dirty="0" smtClean="0"/>
              <a:t>이상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에서 </a:t>
            </a:r>
            <a:r>
              <a:rPr lang="en-US" altLang="ko-KR" sz="1200" dirty="0" smtClean="0"/>
              <a:t>“Open file” </a:t>
            </a:r>
            <a:r>
              <a:rPr lang="ko-KR" altLang="en-US" sz="1200" dirty="0" smtClean="0"/>
              <a:t>버튼 클릭해 </a:t>
            </a:r>
            <a:r>
              <a:rPr lang="en-US" altLang="ko-KR" sz="1200" dirty="0" smtClean="0"/>
              <a:t>6</a:t>
            </a:r>
            <a:r>
              <a:rPr lang="ko-KR" altLang="en-US" sz="1200" dirty="0" smtClean="0"/>
              <a:t>번에서 저장한 텍스트 파일 불러오기</a:t>
            </a:r>
            <a:endParaRPr lang="en-US" altLang="ko-KR" sz="1200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CC32DB9D-4034-433A-895E-C4909B63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95193"/>
            <a:ext cx="6977039" cy="490067"/>
          </a:xfrm>
        </p:spPr>
        <p:txBody>
          <a:bodyPr/>
          <a:lstStyle/>
          <a:p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(5) Shannon DM </a:t>
            </a:r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로그 분석 방법</a:t>
            </a:r>
            <a:r>
              <a:rPr lang="en-US" altLang="ko-KR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 </a:t>
            </a:r>
            <a:r>
              <a:rPr lang="en-US" altLang="ko-KR" sz="1600" dirty="0" smtClean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[6/6</a:t>
            </a:r>
            <a:r>
              <a:rPr lang="en-US" altLang="ko-KR" sz="1600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]</a:t>
            </a:r>
            <a:endParaRPr lang="ko-KR" altLang="en-US" sz="1600" b="0" dirty="0">
              <a:latin typeface="LG스마트체 Bold" panose="020B0600000101010101" pitchFamily="50" charset="-127"/>
              <a:ea typeface="LG스마트체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04" y="1306583"/>
            <a:ext cx="6552830" cy="50251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682" y="1628800"/>
            <a:ext cx="6552830" cy="502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3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9">
            <a:extLst>
              <a:ext uri="{FF2B5EF4-FFF2-40B4-BE49-F238E27FC236}">
                <a16:creationId xmlns:a16="http://schemas.microsoft.com/office/drawing/2014/main" id="{87052212-0F80-4DEA-93E5-8B76C1994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67" y="704884"/>
            <a:ext cx="9579281" cy="215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133350" indent="-13335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285807" indent="-285807" defTabSz="914583" eaLnBrk="1" latinLnBrk="0" hangingPunct="1">
              <a:spcBef>
                <a:spcPts val="300"/>
              </a:spcBef>
              <a:buFont typeface="Wingdings" panose="05000000000000000000" pitchFamily="2" charset="2"/>
              <a:buChar char="v"/>
              <a:defRPr/>
            </a:pPr>
            <a:r>
              <a:rPr lang="en-US" altLang="ko-KR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eSIM </a:t>
            </a:r>
            <a:r>
              <a:rPr lang="ko-KR" altLang="en-US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은 단말 내부에 장착되어 있어 </a:t>
            </a:r>
            <a:r>
              <a:rPr lang="en-US" altLang="ko-KR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USIM </a:t>
            </a:r>
            <a:r>
              <a:rPr lang="ko-KR" altLang="en-US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사용 중인 분석 </a:t>
            </a:r>
            <a:r>
              <a:rPr lang="en-US" altLang="ko-KR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Tool </a:t>
            </a:r>
            <a:r>
              <a:rPr lang="ko-KR" altLang="en-US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활용이 불가함</a:t>
            </a:r>
            <a:endParaRPr lang="en-US" altLang="ko-KR" b="1" spc="-5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70A82E6-1FFA-4A1B-A61D-950F8FC26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66" y="1493766"/>
            <a:ext cx="2428914" cy="1584785"/>
          </a:xfrm>
          <a:prstGeom prst="rect">
            <a:avLst/>
          </a:prstGeom>
        </p:spPr>
      </p:pic>
      <p:pic>
        <p:nvPicPr>
          <p:cNvPr id="13" name="그림 3">
            <a:extLst>
              <a:ext uri="{FF2B5EF4-FFF2-40B4-BE49-F238E27FC236}">
                <a16:creationId xmlns:a16="http://schemas.microsoft.com/office/drawing/2014/main" id="{887EE56A-6469-4437-9BCC-D3EB22088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654" y="1493766"/>
            <a:ext cx="6060808" cy="158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59">
            <a:extLst>
              <a:ext uri="{FF2B5EF4-FFF2-40B4-BE49-F238E27FC236}">
                <a16:creationId xmlns:a16="http://schemas.microsoft.com/office/drawing/2014/main" id="{2CEF1C7F-73FD-4427-8BD7-EE9E37EB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50" y="1008717"/>
            <a:ext cx="9205198" cy="411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133350" indent="-13335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177836" indent="-177836" defTabSz="914583" eaLnBrk="1" latinLnBrk="0" hangingPunct="1">
              <a:spcBef>
                <a:spcPts val="3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단말과 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SIM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간의 통신은 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(Application Protocol Data Unit) 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구조를 사용하며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Byte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 구성된 값의 의미를 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Decoding 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해주는 분석 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Tool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 필요함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</a:p>
          <a:p>
            <a:pPr marL="182600" lvl="1" indent="0" eaLnBrk="1" latinLnBrk="0" hangingPunct="1">
              <a:lnSpc>
                <a:spcPct val="120000"/>
              </a:lnSpc>
              <a:spcBef>
                <a:spcPts val="300"/>
              </a:spcBef>
              <a:defRPr/>
            </a:pP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Ex.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SIM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저장된 파일 값 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Read, LTE/5G 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인증 로그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OTA 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개통 로그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분석</a:t>
            </a:r>
            <a:endParaRPr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Text Box 59">
            <a:extLst>
              <a:ext uri="{FF2B5EF4-FFF2-40B4-BE49-F238E27FC236}">
                <a16:creationId xmlns:a16="http://schemas.microsoft.com/office/drawing/2014/main" id="{231AB0B4-D74A-4B86-99AC-34664AA65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67" y="3416983"/>
            <a:ext cx="5257801" cy="215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133350" indent="-13335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285807" indent="-285807" defTabSz="914583" eaLnBrk="1" latinLnBrk="0" hangingPunct="1">
              <a:spcBef>
                <a:spcPts val="300"/>
              </a:spcBef>
              <a:buFont typeface="Wingdings" panose="05000000000000000000" pitchFamily="2" charset="2"/>
              <a:buChar char="Ø"/>
              <a:defRPr/>
            </a:pPr>
            <a:r>
              <a:rPr lang="ko-KR" altLang="en-US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단말 모뎀 로그 기반의 </a:t>
            </a:r>
            <a:r>
              <a:rPr lang="ko-KR" altLang="en-US" b="1" spc="-5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단말과 </a:t>
            </a:r>
            <a:r>
              <a:rPr lang="en-US" altLang="ko-KR" b="1" spc="-5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SIM </a:t>
            </a:r>
            <a:r>
              <a:rPr lang="ko-KR" altLang="en-US" b="1" spc="-5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간의 </a:t>
            </a:r>
            <a:r>
              <a:rPr lang="en-US" altLang="ko-KR" b="1" spc="-5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</a:t>
            </a:r>
            <a:r>
              <a:rPr lang="ko-KR" altLang="en-US" b="1" spc="-5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통신 로그 분석 </a:t>
            </a:r>
            <a:r>
              <a:rPr lang="en-US" altLang="ko-KR" b="1" spc="-5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Tool </a:t>
            </a:r>
            <a:r>
              <a:rPr lang="ko-KR" altLang="en-US" b="1" spc="-5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en-US" altLang="ko-KR" b="1" spc="-5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 Box 59">
            <a:extLst>
              <a:ext uri="{FF2B5EF4-FFF2-40B4-BE49-F238E27FC236}">
                <a16:creationId xmlns:a16="http://schemas.microsoft.com/office/drawing/2014/main" id="{DCE05464-40D4-4E30-A5A8-972424E6C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50" y="3703056"/>
            <a:ext cx="9205198" cy="8909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133350" indent="-13335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 Narrow" pitchFamily="34" charset="0"/>
                <a:ea typeface="굴림" charset="-127"/>
              </a:defRPr>
            </a:lvl9pPr>
          </a:lstStyle>
          <a:p>
            <a:pPr marL="177836" indent="-177836" defTabSz="914583" eaLnBrk="1" latinLnBrk="0" hangingPunct="1">
              <a:lnSpc>
                <a:spcPts val="1800"/>
              </a:lnSpc>
              <a:spcBef>
                <a:spcPts val="30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현재 퀄컴과 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COMPRION 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양사 간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Tool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호환성 제공을 위한 개발 검토 계약을 진행 중이나 올해 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이내에 상용 솔루션 제공은 불가할 것으로 예상됨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/>
            </a:r>
            <a:b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eSIM 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상용화 전까지 퀄컴 모뎀 로그 기반의 분석 </a:t>
            </a:r>
            <a:r>
              <a:rPr lang="en-US" altLang="ko-KR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Tool</a:t>
            </a:r>
            <a:r>
              <a:rPr lang="ko-KR" altLang="en-US" sz="1200" b="1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자체 개발 계획을 수립함</a:t>
            </a:r>
            <a:endParaRPr lang="en-US" altLang="ko-KR" sz="1200" b="1" spc="-5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182600" lvl="1" indent="0" eaLnBrk="1" latinLnBrk="0" hangingPunct="1">
              <a:lnSpc>
                <a:spcPts val="1600"/>
              </a:lnSpc>
              <a:spcBef>
                <a:spcPts val="300"/>
              </a:spcBef>
              <a:defRPr/>
            </a:pP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en-US" altLang="ko-KR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eSIM </a:t>
            </a:r>
            <a:r>
              <a:rPr lang="ko-KR" altLang="en-US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단말은 </a:t>
            </a:r>
            <a:r>
              <a:rPr lang="en-US" altLang="ko-KR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USIM, eSIM </a:t>
            </a:r>
            <a:r>
              <a:rPr lang="ko-KR" altLang="en-US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 동시에 통신 가능하여 </a:t>
            </a:r>
            <a:r>
              <a:rPr lang="en-US" altLang="ko-KR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 </a:t>
            </a:r>
            <a:r>
              <a:rPr lang="en-US" altLang="ko-KR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Path</a:t>
            </a:r>
            <a:r>
              <a:rPr lang="ko-KR" altLang="en-US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로그가 단말 모뎀 로그에 함께 남음 </a:t>
            </a:r>
            <a:r>
              <a:rPr lang="en-US" altLang="ko-KR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 Path </a:t>
            </a:r>
            <a:r>
              <a:rPr lang="ko-KR" altLang="en-US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별 로그 구분하여 별도 분석 필요</a:t>
            </a:r>
            <a:r>
              <a:rPr lang="en-US" altLang="ko-KR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100" spc="-5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퀄컴 모뎀 로그는 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APDU Decoding 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범위가 제한적임 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 eSIM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단말 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DVT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에 필요한 필수 값을 표준 기반으로 </a:t>
            </a:r>
            <a:r>
              <a:rPr lang="en-US" altLang="ko-KR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Decoding</a:t>
            </a:r>
            <a:r>
              <a:rPr lang="ko-KR" altLang="en-US" sz="1100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하는 기능 제공</a:t>
            </a:r>
            <a:endParaRPr lang="en-US" altLang="ko-KR" sz="11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BBB730-B5B4-4BAC-803A-6E8F9CBD8EAB}"/>
              </a:ext>
            </a:extLst>
          </p:cNvPr>
          <p:cNvSpPr txBox="1"/>
          <p:nvPr/>
        </p:nvSpPr>
        <p:spPr>
          <a:xfrm>
            <a:off x="827889" y="3060791"/>
            <a:ext cx="2206125" cy="2635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b="1" dirty="0">
                <a:solidFill>
                  <a:srgbClr val="FF0000"/>
                </a:solidFill>
              </a:rPr>
              <a:t>단말에 물리적인 </a:t>
            </a:r>
            <a:r>
              <a:rPr lang="ko-KR" altLang="en-US" b="1">
                <a:solidFill>
                  <a:srgbClr val="FF0000"/>
                </a:solidFill>
              </a:rPr>
              <a:t>케이블 연결하는 방식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9" name="그림 12">
            <a:extLst>
              <a:ext uri="{FF2B5EF4-FFF2-40B4-BE49-F238E27FC236}">
                <a16:creationId xmlns:a16="http://schemas.microsoft.com/office/drawing/2014/main" id="{1159CD96-C353-4EA1-BFF9-F54262BF30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89" r="370"/>
          <a:stretch/>
        </p:blipFill>
        <p:spPr bwMode="auto">
          <a:xfrm>
            <a:off x="683840" y="4707065"/>
            <a:ext cx="6968880" cy="1991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BE10F7-7300-4225-AB90-FB863084172C}"/>
              </a:ext>
            </a:extLst>
          </p:cNvPr>
          <p:cNvSpPr txBox="1"/>
          <p:nvPr/>
        </p:nvSpPr>
        <p:spPr>
          <a:xfrm>
            <a:off x="1966964" y="5783560"/>
            <a:ext cx="2206125" cy="2635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APDU Parsing </a:t>
            </a:r>
            <a:r>
              <a:rPr lang="ko-KR" altLang="en-US" b="1" dirty="0">
                <a:solidFill>
                  <a:srgbClr val="FF0000"/>
                </a:solidFill>
              </a:rPr>
              <a:t>결과 보여주기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6D5E08-C4F1-44C7-AEF8-FA8818816D46}"/>
              </a:ext>
            </a:extLst>
          </p:cNvPr>
          <p:cNvSpPr txBox="1"/>
          <p:nvPr/>
        </p:nvSpPr>
        <p:spPr>
          <a:xfrm>
            <a:off x="7536308" y="5843046"/>
            <a:ext cx="2206125" cy="2635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Bytes </a:t>
            </a:r>
            <a:r>
              <a:rPr lang="ko-KR" altLang="en-US" b="1" dirty="0">
                <a:solidFill>
                  <a:srgbClr val="FF0000"/>
                </a:solidFill>
              </a:rPr>
              <a:t>값에 대한</a:t>
            </a:r>
            <a:r>
              <a:rPr lang="en-US" altLang="ko-KR" b="1" dirty="0">
                <a:solidFill>
                  <a:srgbClr val="FF0000"/>
                </a:solidFill>
              </a:rPr>
              <a:t> Decoding </a:t>
            </a:r>
            <a:r>
              <a:rPr lang="ko-KR" altLang="en-US" b="1" dirty="0">
                <a:solidFill>
                  <a:srgbClr val="FF0000"/>
                </a:solidFill>
              </a:rPr>
              <a:t>추가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9277F-740E-4582-BB91-CF0F9E4C8F8A}"/>
              </a:ext>
            </a:extLst>
          </p:cNvPr>
          <p:cNvSpPr txBox="1"/>
          <p:nvPr/>
        </p:nvSpPr>
        <p:spPr>
          <a:xfrm>
            <a:off x="5581517" y="4931302"/>
            <a:ext cx="2206125" cy="2635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eSIM/USIM Path</a:t>
            </a:r>
            <a:r>
              <a:rPr lang="ko-KR" altLang="en-US" b="1" dirty="0">
                <a:solidFill>
                  <a:srgbClr val="FF0000"/>
                </a:solidFill>
              </a:rPr>
              <a:t> 구분 및 필터 제공</a:t>
            </a: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75A2B45D-1D16-410E-B779-D1642F01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09" y="168308"/>
            <a:ext cx="7200000" cy="490067"/>
          </a:xfrm>
        </p:spPr>
        <p:txBody>
          <a:bodyPr/>
          <a:lstStyle/>
          <a:p>
            <a:r>
              <a:rPr lang="ko-KR" altLang="en-US" dirty="0">
                <a:latin typeface="LG스마트체 Bold" panose="020B0600000101010101" pitchFamily="50" charset="-127"/>
                <a:ea typeface="LG스마트체 Bold" panose="020B0600000101010101" pitchFamily="50" charset="-127"/>
              </a:rPr>
              <a:t>개발 배경</a:t>
            </a:r>
          </a:p>
        </p:txBody>
      </p:sp>
    </p:spTree>
    <p:extLst>
      <p:ext uri="{BB962C8B-B14F-4D97-AF65-F5344CB8AC3E}">
        <p14:creationId xmlns:p14="http://schemas.microsoft.com/office/powerpoint/2010/main" val="422204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55922</TotalTime>
  <Words>1586</Words>
  <Application>Microsoft Office PowerPoint</Application>
  <PresentationFormat>A4 용지(210x297mm)</PresentationFormat>
  <Paragraphs>212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LG스마트체 Bold</vt:lpstr>
      <vt:lpstr>LG스마트체 Regular</vt:lpstr>
      <vt:lpstr>굴림</vt:lpstr>
      <vt:lpstr>맑은 고딕</vt:lpstr>
      <vt:lpstr>Arial</vt:lpstr>
      <vt:lpstr>Wingdings</vt:lpstr>
      <vt:lpstr>Office 테마</vt:lpstr>
      <vt:lpstr>SIM-APDU-Analyzer 사용 매뉴얼 v3.1</vt:lpstr>
      <vt:lpstr>문서 이력</vt:lpstr>
      <vt:lpstr>문서 구성</vt:lpstr>
      <vt:lpstr>(1) APDU Tab : 화면 구성</vt:lpstr>
      <vt:lpstr>(1) APDU Tab : 화면 예시</vt:lpstr>
      <vt:lpstr>(1) APDU Tab : 화면 설명 </vt:lpstr>
      <vt:lpstr>PowerPoint 프레젠테이션</vt:lpstr>
      <vt:lpstr>PowerPoint 프레젠테이션</vt:lpstr>
      <vt:lpstr>(1) APDU Tab : Protocol / Application-Level 분석</vt:lpstr>
      <vt:lpstr>(2) File System Tab : 화면 구성</vt:lpstr>
      <vt:lpstr>(2) File System Tab : 화면 예시 및 설명</vt:lpstr>
      <vt:lpstr>[참고] 색상 규칙 정리</vt:lpstr>
      <vt:lpstr>(3) QCAT 로그 분석 방법 [1/6]</vt:lpstr>
      <vt:lpstr>(3) QCAT 로그 분석 방법 [2/6]</vt:lpstr>
      <vt:lpstr>(3) QCAT 로그 분석 방법 [3/6]</vt:lpstr>
      <vt:lpstr>(3) QCAT 로그 분석 방법 [4/6]</vt:lpstr>
      <vt:lpstr>(3) QCAT 로그 분석 방법 [5/6]</vt:lpstr>
      <vt:lpstr>(3) QCAT 로그 분석 방법 [6/6]</vt:lpstr>
      <vt:lpstr>(4) QXDM 로그 분석 방법 [1/5] </vt:lpstr>
      <vt:lpstr>(4) QXDM 로그 분석 방법 [2/5] </vt:lpstr>
      <vt:lpstr>(4) QXDM 로그 분석 방법 [3/5] </vt:lpstr>
      <vt:lpstr>(4) QXDM 로그 분석 방법 [4/5] </vt:lpstr>
      <vt:lpstr>(4) QXDM 로그 분석 방법 [5/5] </vt:lpstr>
      <vt:lpstr>(5) Shannon DM 로그 분석 방법 [1/6]</vt:lpstr>
      <vt:lpstr>(5) Shannon DM 로그 분석 방법 [2/6]</vt:lpstr>
      <vt:lpstr>(5) Shannon DM 로그 분석 방법 [3/6]</vt:lpstr>
      <vt:lpstr>(5) Shannon DM 로그 분석 방법 [4/6]</vt:lpstr>
      <vt:lpstr>(5) Shannon DM 로그 분석 방법 [5/6]</vt:lpstr>
      <vt:lpstr>(5) Shannon DM 로그 분석 방법 [6/6]</vt:lpstr>
      <vt:lpstr>개발 배경</vt:lpstr>
    </vt:vector>
  </TitlesOfParts>
  <Company>LG U+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</dc:title>
  <dc:creator>안주석</dc:creator>
  <cp:lastModifiedBy>Windows 사용자</cp:lastModifiedBy>
  <cp:revision>2648</cp:revision>
  <cp:lastPrinted>2022-02-23T23:45:11Z</cp:lastPrinted>
  <dcterms:created xsi:type="dcterms:W3CDTF">2014-02-13T05:51:01Z</dcterms:created>
  <dcterms:modified xsi:type="dcterms:W3CDTF">2024-01-16T07:40:25Z</dcterms:modified>
</cp:coreProperties>
</file>